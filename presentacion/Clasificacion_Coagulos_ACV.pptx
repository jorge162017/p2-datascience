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ACV puede causar debilidad súbita, dificultad para hablar o alteraciones visuales. Su diagnóstico utiliza evaluación clínica, tomografía y resonancia. Aquí estudio imágenes del coágulo extraído para explorar su origen, no imágenes del cerebro ni la probabilidad de sufrir un ACV.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clasificar, necesito conocer qué datos tengo y qué limitaciones presentan. Esta entrega se concentra en el análisis exploratorio solicitado en la guía; no incluye entrenamiento de modelos.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identificadores se conservaron como texto; el centro es una categoría y image_num enumera imágenes del paciente. Revisé duplicados, faltantes y consistencia, sin necesitar imputaciones. Los datos proceden de los archivos locales del proyecto P2-DS usado como referencia. Solo los tres JPG tienen etiqueta: dos CE y uno LAA. Las otras imágenes se conservaron sin inventar etiquetas.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547 imágenes CE y 207 LAA; al contar pacientes son 457 y 175. El desbalance persiste al cambiar la unidad de conteo. Estas proporciones describen el conjunto analizado y no representan prevalencia poblacional.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 izquierda se ve cuántos pacientes aporta cada centro; a la derecha, qué proporción corresponde a cada clase. La composición cambia entre centros, por eso no conviene mirar solo el balance general. Los porcentajes deben interpretarse junto con los tamaños de cada grupo. Esta asociación no demuestra que el centro cause una etiología.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mayoría tiene una imagen. Como el primer y tercer cuartil son 1, el rango intercuartílico es cero y la regla de atípicos marca las repeticiones. No las eliminé porque son válidas. Varias imágenes del mismo paciente no equivalen a pacientes independientes.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tiles son pequeñas regiones de una imagen. Se detectó tejido usando luminancia menor que 230 o saturación mayor que 0.10. Se exigió también una varianza del Laplaciano de al menos 2.0; esta mide cambios de intensidad. Los 232 rechazos se debieron a cobertura insuficiente. Se conservaron las coordenadas y motivos para revisar el proceso.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entropía describe diversidad de intensidades, no gravedad clínica. Su mediana entre tiles fue de 7.715 bits en 008e5c_0 y 4.221 en 08b8ef_0. Cada punto del gráfico es un tile. Las correlaciones se calcularon dentro de cada imagen y cambian de dirección: no muestran un patrón uniforme. Los extremos pueden deberse a textura, ruido o bordes, por eso se conservaron.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EDA permitió describir los datos, documentar su calidad e identificar límites. Más tiles no significan más pacientes. Para avanzar se necesitan imágenes verificadas de varios centros. Si después se entrena un modelo, las imágenes de cada paciente deben quedar en una misma partición.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59"/>
        </a:solidFill>
      </p:bgPr>
    </p:bg>
    <p:spTree>
      <p:nvGrpSpPr>
        <p:cNvPr id="1" name=""/>
        <p:cNvGrpSpPr/>
        <p:nvPr/>
      </p:nvGrpSpPr>
      <p:grpSpPr>
        <a:xfrm>
          <a:off x="0" y="0"/>
          <a:ext cx="0" cy="0"/>
          <a:chOff x="0" y="0"/>
          <a:chExt cx="0" cy="0"/>
        </a:xfrm>
      </p:grpSpPr>
      <p:sp>
        <p:nvSpPr>
          <p:cNvPr id="2" name="Text 0"/>
          <p:cNvSpPr txBox="1"/>
          <p:nvPr/>
        </p:nvSpPr>
        <p:spPr>
          <a:xfrm>
            <a:off x="640080" y="566928"/>
            <a:ext cx="6400800" cy="274320"/>
          </a:xfrm>
          <a:prstGeom prst="rect">
            <a:avLst/>
          </a:prstGeom>
          <a:noFill/>
          <a:ln/>
        </p:spPr>
        <p:txBody>
          <a:bodyPr wrap="square" lIns="0" tIns="0" rIns="0" bIns="0" rtlCol="0" anchor="ctr"/>
          <a:lstStyle/>
          <a:p>
            <a:pPr indent="0" marL="0">
              <a:buNone/>
            </a:pPr>
            <a:r>
              <a:rPr lang="en-US" sz="1150" b="1" spc="150" kern="0" dirty="0">
                <a:solidFill>
                  <a:srgbClr val="DB7F3E"/>
                </a:solidFill>
                <a:latin typeface="Calibri" pitchFamily="34" charset="0"/>
                <a:ea typeface="Calibri" pitchFamily="34" charset="-122"/>
                <a:cs typeface="Calibri" pitchFamily="34" charset="-120"/>
              </a:rPr>
              <a:t>PROYECTO 2 · ANÁLISIS EXPLORATORIO · TEMA 22</a:t>
            </a:r>
            <a:endParaRPr lang="en-US" sz="1150" dirty="0"/>
          </a:p>
        </p:txBody>
      </p:sp>
      <p:sp>
        <p:nvSpPr>
          <p:cNvPr id="3" name="Text 1"/>
          <p:cNvSpPr txBox="1"/>
          <p:nvPr/>
        </p:nvSpPr>
        <p:spPr>
          <a:xfrm>
            <a:off x="640080" y="960120"/>
            <a:ext cx="5806440" cy="1965960"/>
          </a:xfrm>
          <a:prstGeom prst="rect">
            <a:avLst/>
          </a:prstGeom>
          <a:noFill/>
          <a:ln/>
        </p:spPr>
        <p:txBody>
          <a:bodyPr wrap="square" lIns="0" tIns="0" rIns="0" bIns="0" rtlCol="0" anchor="t"/>
          <a:lstStyle/>
          <a:p>
            <a:pPr indent="0" marL="0">
              <a:lnSpc>
                <a:spcPct val="108000"/>
              </a:lnSpc>
              <a:buNone/>
            </a:pPr>
            <a:r>
              <a:rPr lang="en-US" sz="3000" b="1" dirty="0">
                <a:solidFill>
                  <a:srgbClr val="FFFFFF"/>
                </a:solidFill>
                <a:latin typeface="Cambria" pitchFamily="34" charset="0"/>
                <a:ea typeface="Cambria" pitchFamily="34" charset="-122"/>
                <a:cs typeface="Cambria" pitchFamily="34" charset="-120"/>
              </a:rPr>
              <a:t>Clasificación del origen de coágulos en accidentes cerebrovasculares</a:t>
            </a:r>
            <a:endParaRPr lang="en-US" sz="3000" dirty="0"/>
          </a:p>
        </p:txBody>
      </p:sp>
      <p:sp>
        <p:nvSpPr>
          <p:cNvPr id="4" name="Text 2"/>
          <p:cNvSpPr txBox="1"/>
          <p:nvPr/>
        </p:nvSpPr>
        <p:spPr>
          <a:xfrm>
            <a:off x="640080" y="3063240"/>
            <a:ext cx="5806440" cy="310896"/>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Jorge Luis Lopez  ·  221038</a:t>
            </a:r>
            <a:endParaRPr lang="en-US" sz="1450" dirty="0"/>
          </a:p>
        </p:txBody>
      </p:sp>
      <p:sp>
        <p:nvSpPr>
          <p:cNvPr id="5" name="Text 3"/>
          <p:cNvSpPr txBox="1"/>
          <p:nvPr/>
        </p:nvSpPr>
        <p:spPr>
          <a:xfrm>
            <a:off x="640080" y="3364992"/>
            <a:ext cx="5806440" cy="274320"/>
          </a:xfrm>
          <a:prstGeom prst="rect">
            <a:avLst/>
          </a:prstGeom>
          <a:noFill/>
          <a:ln/>
        </p:spPr>
        <p:txBody>
          <a:bodyPr wrap="square" lIns="0" tIns="0" rIns="0" bIns="0" rtlCol="0" anchor="ctr"/>
          <a:lstStyle/>
          <a:p>
            <a:pPr indent="0" marL="0">
              <a:buNone/>
            </a:pPr>
            <a:r>
              <a:rPr lang="en-US" sz="1250" dirty="0">
                <a:solidFill>
                  <a:srgbClr val="AFC7D4"/>
                </a:solidFill>
                <a:latin typeface="Calibri" pitchFamily="34" charset="0"/>
                <a:ea typeface="Calibri" pitchFamily="34" charset="-122"/>
                <a:cs typeface="Calibri" pitchFamily="34" charset="-120"/>
              </a:rPr>
              <a:t>Data Science, Universidad del Valle de Guatemala</a:t>
            </a:r>
            <a:endParaRPr lang="en-US" sz="1250" dirty="0"/>
          </a:p>
        </p:txBody>
      </p:sp>
      <p:sp>
        <p:nvSpPr>
          <p:cNvPr id="6" name="Text 4"/>
          <p:cNvSpPr txBox="1"/>
          <p:nvPr/>
        </p:nvSpPr>
        <p:spPr>
          <a:xfrm>
            <a:off x="640080" y="3977640"/>
            <a:ext cx="5760720" cy="17830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ACV isquémico: interrupción del flujo sanguíneo cerebral.</a:t>
            </a:r>
            <a:endParaRPr lang="en-US" sz="1350" dirty="0"/>
          </a:p>
          <a:p>
            <a:pPr marL="203200" indent="-203200">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CE: origen cardioembólico. LAA: ateroesclerosis de grandes arterias.</a:t>
            </a:r>
            <a:endParaRPr lang="en-US" sz="1350" dirty="0"/>
          </a:p>
          <a:p>
            <a:pPr marL="203200" indent="-203200">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El proyecto explora imágenes del tejido del coágulo.</a:t>
            </a:r>
            <a:endParaRPr lang="en-US" sz="1350" dirty="0"/>
          </a:p>
        </p:txBody>
      </p:sp>
      <p:pic>
        <p:nvPicPr>
          <p:cNvPr id="7" name="Image 0" descr="/home/claude/work/assets/slide_01_ejemplo_coagulo_CE_r.png">    </p:cNvPr>
          <p:cNvPicPr>
            <a:picLocks noChangeAspect="1"/>
          </p:cNvPicPr>
          <p:nvPr/>
        </p:nvPicPr>
        <p:blipFill>
          <a:blip r:embed="rId1"/>
          <a:stretch>
            <a:fillRect/>
          </a:stretch>
        </p:blipFill>
        <p:spPr>
          <a:xfrm>
            <a:off x="7391095" y="1051560"/>
            <a:ext cx="4160520" cy="4160520"/>
          </a:xfrm>
          <a:prstGeom prst="rect">
            <a:avLst/>
          </a:prstGeom>
          <a:effectLst>
            <a:outerShdw sx="100000" sy="100000" kx="0" ky="0" algn="bl" rotWithShape="0" blurRad="88900" dist="25400" dir="5400000">
              <a:srgbClr val="0B3D59">
                <a:alpha val="20000"/>
              </a:srgbClr>
            </a:outerShdw>
          </a:effectLst>
        </p:spPr>
      </p:pic>
      <p:sp>
        <p:nvSpPr>
          <p:cNvPr id="8" name="Text 5"/>
          <p:cNvSpPr txBox="1"/>
          <p:nvPr/>
        </p:nvSpPr>
        <p:spPr>
          <a:xfrm>
            <a:off x="7391095" y="5321808"/>
            <a:ext cx="4160520" cy="310896"/>
          </a:xfrm>
          <a:prstGeom prst="rect">
            <a:avLst/>
          </a:prstGeom>
          <a:noFill/>
          <a:ln/>
        </p:spPr>
        <p:txBody>
          <a:bodyPr wrap="square" lIns="0" tIns="0" rIns="0" bIns="0" rtlCol="0" anchor="ctr"/>
          <a:lstStyle/>
          <a:p>
            <a:pPr algn="ctr" indent="0" marL="0">
              <a:buNone/>
            </a:pPr>
            <a:r>
              <a:rPr lang="en-US" sz="1050" i="1" dirty="0">
                <a:solidFill>
                  <a:srgbClr val="AFC7D4"/>
                </a:solidFill>
                <a:latin typeface="Calibri" pitchFamily="34" charset="0"/>
                <a:ea typeface="Calibri" pitchFamily="34" charset="-122"/>
                <a:cs typeface="Calibri" pitchFamily="34" charset="-120"/>
              </a:rPr>
              <a:t>Recorte 006388_0; etiqueta CE según el CSV.</a:t>
            </a:r>
            <a:endParaRPr lang="en-US" sz="1050" dirty="0"/>
          </a:p>
        </p:txBody>
      </p:sp>
      <p:sp>
        <p:nvSpPr>
          <p:cNvPr id="9" name="Text 6"/>
          <p:cNvSpPr txBox="1"/>
          <p:nvPr/>
        </p:nvSpPr>
        <p:spPr>
          <a:xfrm>
            <a:off x="640080" y="6455664"/>
            <a:ext cx="9722815" cy="274320"/>
          </a:xfrm>
          <a:prstGeom prst="rect">
            <a:avLst/>
          </a:prstGeom>
          <a:noFill/>
          <a:ln/>
        </p:spPr>
        <p:txBody>
          <a:bodyPr wrap="square" lIns="0" tIns="0" rIns="0" bIns="0" rtlCol="0" anchor="ctr"/>
          <a:lstStyle/>
          <a:p>
            <a:pPr indent="0" marL="0">
              <a:buNone/>
            </a:pPr>
            <a:r>
              <a:rPr lang="en-US" sz="950" dirty="0">
                <a:solidFill>
                  <a:srgbClr val="AFC7D4"/>
                </a:solidFill>
                <a:latin typeface="Calibri" pitchFamily="34" charset="0"/>
                <a:ea typeface="Calibri" pitchFamily="34" charset="-122"/>
                <a:cs typeface="Calibri" pitchFamily="34" charset="-120"/>
              </a:rPr>
              <a:t>Fuentes: NINDS — Stroke Overview, Signs &amp; Symptoms, Assess and Treat  ·  Mayo Clinic — STRIP AI (Kaggle)</a:t>
            </a:r>
            <a:endParaRPr lang="en-US" sz="950" dirty="0"/>
          </a:p>
        </p:txBody>
      </p:sp>
      <p:sp>
        <p:nvSpPr>
          <p:cNvPr id="10" name="Text 7"/>
          <p:cNvSpPr txBox="1"/>
          <p:nvPr/>
        </p:nvSpPr>
        <p:spPr>
          <a:xfrm>
            <a:off x="10820095" y="6473952"/>
            <a:ext cx="914400" cy="274320"/>
          </a:xfrm>
          <a:prstGeom prst="rect">
            <a:avLst/>
          </a:prstGeom>
          <a:noFill/>
          <a:ln/>
        </p:spPr>
        <p:txBody>
          <a:bodyPr wrap="square" lIns="0" tIns="0" rIns="0" bIns="0" rtlCol="0" anchor="ctr"/>
          <a:lstStyle/>
          <a:p>
            <a:pPr algn="r" indent="0" marL="0">
              <a:buNone/>
            </a:pPr>
            <a:r>
              <a:rPr lang="en-US" sz="900" dirty="0">
                <a:solidFill>
                  <a:srgbClr val="AFC7D4"/>
                </a:solidFill>
                <a:latin typeface="Calibri" pitchFamily="34" charset="0"/>
                <a:ea typeface="Calibri" pitchFamily="34" charset="-122"/>
                <a:cs typeface="Calibri" pitchFamily="34" charset="-120"/>
              </a:rPr>
              <a:t>01 / 09</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9FA"/>
        </a:solidFill>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1C7293"/>
          </a:solidFill>
          <a:ln/>
        </p:spPr>
      </p:sp>
      <p:pic>
        <p:nvPicPr>
          <p:cNvPr id="3" name="Image 0" descr="/home/claude/work/assets/icons/search.png">    </p:cNvPr>
          <p:cNvPicPr>
            <a:picLocks noChangeAspect="1"/>
          </p:cNvPicPr>
          <p:nvPr/>
        </p:nvPicPr>
        <p:blipFill>
          <a:blip r:embed="rId1"/>
          <a:stretch>
            <a:fillRect/>
          </a:stretch>
        </p:blipFill>
        <p:spPr>
          <a:xfrm>
            <a:off x="777240" y="640080"/>
            <a:ext cx="292608" cy="292608"/>
          </a:xfrm>
          <a:prstGeom prst="rect">
            <a:avLst/>
          </a:prstGeom>
        </p:spPr>
      </p:pic>
      <p:sp>
        <p:nvSpPr>
          <p:cNvPr id="4" name="Text 1"/>
          <p:cNvSpPr txBox="1"/>
          <p:nvPr/>
        </p:nvSpPr>
        <p:spPr>
          <a:xfrm>
            <a:off x="1417320" y="448056"/>
            <a:ext cx="10134295" cy="676656"/>
          </a:xfrm>
          <a:prstGeom prst="rect">
            <a:avLst/>
          </a:prstGeom>
          <a:noFill/>
          <a:ln/>
        </p:spPr>
        <p:txBody>
          <a:bodyPr wrap="square" lIns="0" tIns="0" rIns="0" bIns="0" rtlCol="0" anchor="ctr"/>
          <a:lstStyle/>
          <a:p>
            <a:pPr indent="0" marL="0">
              <a:buNone/>
            </a:pPr>
            <a:r>
              <a:rPr lang="en-US" sz="2700" b="1" dirty="0">
                <a:solidFill>
                  <a:srgbClr val="0B3D59"/>
                </a:solidFill>
                <a:latin typeface="Cambria" pitchFamily="34" charset="0"/>
                <a:ea typeface="Cambria" pitchFamily="34" charset="-122"/>
                <a:cs typeface="Cambria" pitchFamily="34" charset="-120"/>
              </a:rPr>
              <a:t>Problema y objetivos</a:t>
            </a:r>
            <a:endParaRPr lang="en-US" sz="2700" dirty="0"/>
          </a:p>
        </p:txBody>
      </p:sp>
      <p:sp>
        <p:nvSpPr>
          <p:cNvPr id="5" name="Shape 2"/>
          <p:cNvSpPr/>
          <p:nvPr/>
        </p:nvSpPr>
        <p:spPr>
          <a:xfrm>
            <a:off x="640080" y="1417320"/>
            <a:ext cx="10911535" cy="1417320"/>
          </a:xfrm>
          <a:prstGeom prst="roundRect">
            <a:avLst>
              <a:gd name="adj" fmla="val 7742"/>
            </a:avLst>
          </a:prstGeom>
          <a:solidFill>
            <a:srgbClr val="FFFFFF"/>
          </a:solidFill>
          <a:ln/>
          <a:effectLst>
            <a:outerShdw sx="100000" sy="100000" kx="0" ky="0" algn="bl" rotWithShape="0" blurRad="88900" dist="25400" dir="5400000">
              <a:srgbClr val="0B3D59">
                <a:alpha val="20000"/>
              </a:srgbClr>
            </a:outerShdw>
          </a:effectLst>
        </p:spPr>
      </p:sp>
      <p:sp>
        <p:nvSpPr>
          <p:cNvPr id="6" name="Text 3"/>
          <p:cNvSpPr txBox="1"/>
          <p:nvPr/>
        </p:nvSpPr>
        <p:spPr>
          <a:xfrm>
            <a:off x="1005840" y="1636776"/>
            <a:ext cx="10180015" cy="27432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PREGUNTA DE INVESTIGACIÓN</a:t>
            </a:r>
            <a:endParaRPr lang="en-US" sz="1150" dirty="0"/>
          </a:p>
        </p:txBody>
      </p:sp>
      <p:sp>
        <p:nvSpPr>
          <p:cNvPr id="7" name="Text 4"/>
          <p:cNvSpPr txBox="1"/>
          <p:nvPr/>
        </p:nvSpPr>
        <p:spPr>
          <a:xfrm>
            <a:off x="1005840" y="1947672"/>
            <a:ext cx="10180015" cy="777240"/>
          </a:xfrm>
          <a:prstGeom prst="rect">
            <a:avLst/>
          </a:prstGeom>
          <a:noFill/>
          <a:ln/>
        </p:spPr>
        <p:txBody>
          <a:bodyPr wrap="square" lIns="0" tIns="0" rIns="0" bIns="0" rtlCol="0" anchor="t"/>
          <a:lstStyle/>
          <a:p>
            <a:pPr indent="0" marL="0">
              <a:lnSpc>
                <a:spcPct val="110000"/>
              </a:lnSpc>
              <a:buNone/>
            </a:pPr>
            <a:r>
              <a:rPr lang="en-US" sz="1900" b="1" i="1" dirty="0">
                <a:solidFill>
                  <a:srgbClr val="0B3D59"/>
                </a:solidFill>
                <a:latin typeface="Cambria" pitchFamily="34" charset="0"/>
                <a:ea typeface="Cambria" pitchFamily="34" charset="-122"/>
                <a:cs typeface="Cambria" pitchFamily="34" charset="-120"/>
              </a:rPr>
              <a:t>¿Qué patrones y problemas de calidad presentan los datos disponibles para estudiar el origen CE/LAA?</a:t>
            </a:r>
            <a:endParaRPr lang="en-US" sz="1900" dirty="0"/>
          </a:p>
        </p:txBody>
      </p:sp>
      <p:sp>
        <p:nvSpPr>
          <p:cNvPr id="8" name="Text 5"/>
          <p:cNvSpPr txBox="1"/>
          <p:nvPr/>
        </p:nvSpPr>
        <p:spPr>
          <a:xfrm>
            <a:off x="640080" y="3154680"/>
            <a:ext cx="5486400" cy="27432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OBJETIVO GENERAL</a:t>
            </a:r>
            <a:endParaRPr lang="en-US" sz="1150" dirty="0"/>
          </a:p>
        </p:txBody>
      </p:sp>
      <p:sp>
        <p:nvSpPr>
          <p:cNvPr id="9" name="Text 6"/>
          <p:cNvSpPr txBox="1"/>
          <p:nvPr/>
        </p:nvSpPr>
        <p:spPr>
          <a:xfrm>
            <a:off x="640080" y="3447288"/>
            <a:ext cx="10911535" cy="457200"/>
          </a:xfrm>
          <a:prstGeom prst="rect">
            <a:avLst/>
          </a:prstGeom>
          <a:noFill/>
          <a:ln/>
        </p:spPr>
        <p:txBody>
          <a:bodyPr wrap="square" lIns="0" tIns="0" rIns="0" bIns="0" rtlCol="0" anchor="ctr"/>
          <a:lstStyle/>
          <a:p>
            <a:pPr indent="0" marL="0">
              <a:buNone/>
            </a:pPr>
            <a:r>
              <a:rPr lang="en-US" sz="1550" dirty="0">
                <a:solidFill>
                  <a:srgbClr val="16232E"/>
                </a:solidFill>
                <a:latin typeface="Calibri" pitchFamily="34" charset="0"/>
                <a:ea typeface="Calibri" pitchFamily="34" charset="-122"/>
                <a:cs typeface="Calibri" pitchFamily="34" charset="-120"/>
              </a:rPr>
              <a:t>Caracterizar los datos mediante un análisis exploratorio reproducible.</a:t>
            </a:r>
            <a:endParaRPr lang="en-US" sz="1550" dirty="0"/>
          </a:p>
        </p:txBody>
      </p:sp>
      <p:sp>
        <p:nvSpPr>
          <p:cNvPr id="10" name="Text 7"/>
          <p:cNvSpPr txBox="1"/>
          <p:nvPr/>
        </p:nvSpPr>
        <p:spPr>
          <a:xfrm>
            <a:off x="640080" y="4069080"/>
            <a:ext cx="5486400" cy="27432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OBJETIVOS ESPECÍFICOS</a:t>
            </a:r>
            <a:endParaRPr lang="en-US" sz="1150" dirty="0"/>
          </a:p>
        </p:txBody>
      </p:sp>
      <p:sp>
        <p:nvSpPr>
          <p:cNvPr id="11" name="Shape 8"/>
          <p:cNvSpPr/>
          <p:nvPr/>
        </p:nvSpPr>
        <p:spPr>
          <a:xfrm>
            <a:off x="640080" y="4480560"/>
            <a:ext cx="384048" cy="384048"/>
          </a:xfrm>
          <a:prstGeom prst="ellipse">
            <a:avLst/>
          </a:prstGeom>
          <a:solidFill>
            <a:srgbClr val="0B3D59"/>
          </a:solidFill>
          <a:ln/>
        </p:spPr>
      </p:sp>
      <p:sp>
        <p:nvSpPr>
          <p:cNvPr id="12" name="Text 9"/>
          <p:cNvSpPr txBox="1"/>
          <p:nvPr/>
        </p:nvSpPr>
        <p:spPr>
          <a:xfrm>
            <a:off x="640080" y="44805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txBox="1"/>
          <p:nvPr/>
        </p:nvSpPr>
        <p:spPr>
          <a:xfrm>
            <a:off x="1207008" y="4453128"/>
            <a:ext cx="10344607" cy="713232"/>
          </a:xfrm>
          <a:prstGeom prst="rect">
            <a:avLst/>
          </a:prstGeom>
          <a:noFill/>
          <a:ln/>
        </p:spPr>
        <p:txBody>
          <a:bodyPr wrap="square" lIns="0" tIns="0" rIns="0" bIns="0" rtlCol="0" anchor="ctr"/>
          <a:lstStyle/>
          <a:p>
            <a:pPr indent="0" marL="0">
              <a:buNone/>
            </a:pPr>
            <a:r>
              <a:rPr lang="en-US" sz="1400" dirty="0">
                <a:solidFill>
                  <a:srgbClr val="16232E"/>
                </a:solidFill>
                <a:latin typeface="Calibri" pitchFamily="34" charset="0"/>
                <a:ea typeface="Calibri" pitchFamily="34" charset="-122"/>
                <a:cs typeface="Calibri" pitchFamily="34" charset="-120"/>
              </a:rPr>
              <a:t>Describir y verificar los registros, las etiquetas y su distribución por paciente y centro.</a:t>
            </a:r>
            <a:endParaRPr lang="en-US" sz="1400" dirty="0"/>
          </a:p>
        </p:txBody>
      </p:sp>
      <p:sp>
        <p:nvSpPr>
          <p:cNvPr id="14" name="Shape 11"/>
          <p:cNvSpPr/>
          <p:nvPr/>
        </p:nvSpPr>
        <p:spPr>
          <a:xfrm>
            <a:off x="640080" y="5193792"/>
            <a:ext cx="384048" cy="384048"/>
          </a:xfrm>
          <a:prstGeom prst="ellipse">
            <a:avLst/>
          </a:prstGeom>
          <a:solidFill>
            <a:srgbClr val="0B3D59"/>
          </a:solidFill>
          <a:ln/>
        </p:spPr>
      </p:sp>
      <p:sp>
        <p:nvSpPr>
          <p:cNvPr id="15" name="Text 12"/>
          <p:cNvSpPr txBox="1"/>
          <p:nvPr/>
        </p:nvSpPr>
        <p:spPr>
          <a:xfrm>
            <a:off x="640080" y="519379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txBox="1"/>
          <p:nvPr/>
        </p:nvSpPr>
        <p:spPr>
          <a:xfrm>
            <a:off x="1207008" y="5166360"/>
            <a:ext cx="10344607" cy="713232"/>
          </a:xfrm>
          <a:prstGeom prst="rect">
            <a:avLst/>
          </a:prstGeom>
          <a:noFill/>
          <a:ln/>
        </p:spPr>
        <p:txBody>
          <a:bodyPr wrap="square" lIns="0" tIns="0" rIns="0" bIns="0" rtlCol="0" anchor="ctr"/>
          <a:lstStyle/>
          <a:p>
            <a:pPr indent="0" marL="0">
              <a:buNone/>
            </a:pPr>
            <a:r>
              <a:rPr lang="en-US" sz="1400" dirty="0">
                <a:solidFill>
                  <a:srgbClr val="16232E"/>
                </a:solidFill>
                <a:latin typeface="Calibri" pitchFamily="34" charset="0"/>
                <a:ea typeface="Calibri" pitchFamily="34" charset="-122"/>
                <a:cs typeface="Calibri" pitchFamily="34" charset="-120"/>
              </a:rPr>
              <a:t>Cuantificar características visuales, relaciones y valores atípicos de las imágenes disponibles.</a:t>
            </a:r>
            <a:endParaRPr lang="en-US" sz="1400" dirty="0"/>
          </a:p>
        </p:txBody>
      </p:sp>
      <p:sp>
        <p:nvSpPr>
          <p:cNvPr id="17" name="Text 14"/>
          <p:cNvSpPr txBox="1"/>
          <p:nvPr/>
        </p:nvSpPr>
        <p:spPr>
          <a:xfrm>
            <a:off x="10820095" y="6473952"/>
            <a:ext cx="914400" cy="274320"/>
          </a:xfrm>
          <a:prstGeom prst="rect">
            <a:avLst/>
          </a:prstGeom>
          <a:noFill/>
          <a:ln/>
        </p:spPr>
        <p:txBody>
          <a:bodyPr wrap="square" lIns="0" tIns="0" rIns="0" bIns="0" rtlCol="0" anchor="ctr"/>
          <a:lstStyle/>
          <a:p>
            <a:pPr algn="r" indent="0" marL="0">
              <a:buNone/>
            </a:pPr>
            <a:r>
              <a:rPr lang="en-US" sz="900" dirty="0">
                <a:solidFill>
                  <a:srgbClr val="5B6B77"/>
                </a:solidFill>
                <a:latin typeface="Calibri" pitchFamily="34" charset="0"/>
                <a:ea typeface="Calibri" pitchFamily="34" charset="-122"/>
                <a:cs typeface="Calibri" pitchFamily="34" charset="-120"/>
              </a:rPr>
              <a:t>02 / 09</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9FA"/>
        </a:solidFill>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1C7293"/>
          </a:solidFill>
          <a:ln/>
        </p:spPr>
      </p:sp>
      <p:pic>
        <p:nvPicPr>
          <p:cNvPr id="3" name="Image 0" descr="/home/claude/work/assets/icons/database.png">    </p:cNvPr>
          <p:cNvPicPr>
            <a:picLocks noChangeAspect="1"/>
          </p:cNvPicPr>
          <p:nvPr/>
        </p:nvPicPr>
        <p:blipFill>
          <a:blip r:embed="rId1"/>
          <a:stretch>
            <a:fillRect/>
          </a:stretch>
        </p:blipFill>
        <p:spPr>
          <a:xfrm>
            <a:off x="777240" y="640080"/>
            <a:ext cx="292608" cy="292608"/>
          </a:xfrm>
          <a:prstGeom prst="rect">
            <a:avLst/>
          </a:prstGeom>
        </p:spPr>
      </p:pic>
      <p:sp>
        <p:nvSpPr>
          <p:cNvPr id="4" name="Text 1"/>
          <p:cNvSpPr txBox="1"/>
          <p:nvPr/>
        </p:nvSpPr>
        <p:spPr>
          <a:xfrm>
            <a:off x="1417320" y="448056"/>
            <a:ext cx="10134295" cy="676656"/>
          </a:xfrm>
          <a:prstGeom prst="rect">
            <a:avLst/>
          </a:prstGeom>
          <a:noFill/>
          <a:ln/>
        </p:spPr>
        <p:txBody>
          <a:bodyPr wrap="square" lIns="0" tIns="0" rIns="0" bIns="0" rtlCol="0" anchor="ctr"/>
          <a:lstStyle/>
          <a:p>
            <a:pPr indent="0" marL="0">
              <a:buNone/>
            </a:pPr>
            <a:r>
              <a:rPr lang="en-US" sz="2700" b="1" dirty="0">
                <a:solidFill>
                  <a:srgbClr val="0B3D59"/>
                </a:solidFill>
                <a:latin typeface="Cambria" pitchFamily="34" charset="0"/>
                <a:ea typeface="Cambria" pitchFamily="34" charset="-122"/>
                <a:cs typeface="Cambria" pitchFamily="34" charset="-120"/>
              </a:rPr>
              <a:t>Datos y limpieza</a:t>
            </a:r>
            <a:endParaRPr lang="en-US" sz="2700" dirty="0"/>
          </a:p>
        </p:txBody>
      </p:sp>
      <p:sp>
        <p:nvSpPr>
          <p:cNvPr id="5" name="Shape 2"/>
          <p:cNvSpPr/>
          <p:nvPr/>
        </p:nvSpPr>
        <p:spPr>
          <a:xfrm>
            <a:off x="640080" y="1417320"/>
            <a:ext cx="3454298" cy="1554480"/>
          </a:xfrm>
          <a:prstGeom prst="roundRect">
            <a:avLst>
              <a:gd name="adj" fmla="val 7059"/>
            </a:avLst>
          </a:prstGeom>
          <a:solidFill>
            <a:srgbClr val="FFFFFF"/>
          </a:solidFill>
          <a:ln/>
          <a:effectLst>
            <a:outerShdw sx="100000" sy="100000" kx="0" ky="0" algn="bl" rotWithShape="0" blurRad="88900" dist="25400" dir="5400000">
              <a:srgbClr val="0B3D59">
                <a:alpha val="20000"/>
              </a:srgbClr>
            </a:outerShdw>
          </a:effectLst>
        </p:spPr>
      </p:sp>
      <p:sp>
        <p:nvSpPr>
          <p:cNvPr id="6" name="Text 3"/>
          <p:cNvSpPr txBox="1"/>
          <p:nvPr/>
        </p:nvSpPr>
        <p:spPr>
          <a:xfrm>
            <a:off x="640080" y="1581912"/>
            <a:ext cx="3454298" cy="868680"/>
          </a:xfrm>
          <a:prstGeom prst="rect">
            <a:avLst/>
          </a:prstGeom>
          <a:noFill/>
          <a:ln/>
        </p:spPr>
        <p:txBody>
          <a:bodyPr wrap="square" lIns="0" tIns="0" rIns="0" bIns="0" rtlCol="0" anchor="ctr"/>
          <a:lstStyle/>
          <a:p>
            <a:pPr algn="ctr" indent="0" marL="0">
              <a:buNone/>
            </a:pPr>
            <a:r>
              <a:rPr lang="en-US" sz="4600" b="1" dirty="0">
                <a:solidFill>
                  <a:srgbClr val="DB7F3E"/>
                </a:solidFill>
                <a:latin typeface="Cambria" pitchFamily="34" charset="0"/>
                <a:ea typeface="Cambria" pitchFamily="34" charset="-122"/>
                <a:cs typeface="Cambria" pitchFamily="34" charset="-120"/>
              </a:rPr>
              <a:t>754</a:t>
            </a:r>
            <a:endParaRPr lang="en-US" sz="4600" dirty="0"/>
          </a:p>
        </p:txBody>
      </p:sp>
      <p:sp>
        <p:nvSpPr>
          <p:cNvPr id="7" name="Text 4"/>
          <p:cNvSpPr txBox="1"/>
          <p:nvPr/>
        </p:nvSpPr>
        <p:spPr>
          <a:xfrm>
            <a:off x="640080" y="2441448"/>
            <a:ext cx="3454298" cy="320040"/>
          </a:xfrm>
          <a:prstGeom prst="rect">
            <a:avLst/>
          </a:prstGeom>
          <a:noFill/>
          <a:ln/>
        </p:spPr>
        <p:txBody>
          <a:bodyPr wrap="square" lIns="0" tIns="0" rIns="0" bIns="0" rtlCol="0" anchor="ctr"/>
          <a:lstStyle/>
          <a:p>
            <a:pPr algn="ctr" indent="0" marL="0">
              <a:buNone/>
            </a:pPr>
            <a:r>
              <a:rPr lang="en-US" sz="1250" b="1" spc="100" kern="0" dirty="0">
                <a:solidFill>
                  <a:srgbClr val="0B3D59"/>
                </a:solidFill>
                <a:latin typeface="Calibri" pitchFamily="34" charset="0"/>
                <a:ea typeface="Calibri" pitchFamily="34" charset="-122"/>
                <a:cs typeface="Calibri" pitchFamily="34" charset="-120"/>
              </a:rPr>
              <a:t>REGISTROS</a:t>
            </a:r>
            <a:endParaRPr lang="en-US" sz="1250" dirty="0"/>
          </a:p>
        </p:txBody>
      </p:sp>
      <p:sp>
        <p:nvSpPr>
          <p:cNvPr id="8" name="Shape 5"/>
          <p:cNvSpPr/>
          <p:nvPr/>
        </p:nvSpPr>
        <p:spPr>
          <a:xfrm>
            <a:off x="4368698" y="1417320"/>
            <a:ext cx="3454298" cy="1554480"/>
          </a:xfrm>
          <a:prstGeom prst="roundRect">
            <a:avLst>
              <a:gd name="adj" fmla="val 7059"/>
            </a:avLst>
          </a:prstGeom>
          <a:solidFill>
            <a:srgbClr val="FFFFFF"/>
          </a:solidFill>
          <a:ln/>
          <a:effectLst>
            <a:outerShdw sx="100000" sy="100000" kx="0" ky="0" algn="bl" rotWithShape="0" blurRad="88900" dist="25400" dir="5400000">
              <a:srgbClr val="0B3D59">
                <a:alpha val="20000"/>
              </a:srgbClr>
            </a:outerShdw>
          </a:effectLst>
        </p:spPr>
      </p:sp>
      <p:sp>
        <p:nvSpPr>
          <p:cNvPr id="9" name="Text 6"/>
          <p:cNvSpPr txBox="1"/>
          <p:nvPr/>
        </p:nvSpPr>
        <p:spPr>
          <a:xfrm>
            <a:off x="4368698" y="1581912"/>
            <a:ext cx="3454298" cy="868680"/>
          </a:xfrm>
          <a:prstGeom prst="rect">
            <a:avLst/>
          </a:prstGeom>
          <a:noFill/>
          <a:ln/>
        </p:spPr>
        <p:txBody>
          <a:bodyPr wrap="square" lIns="0" tIns="0" rIns="0" bIns="0" rtlCol="0" anchor="ctr"/>
          <a:lstStyle/>
          <a:p>
            <a:pPr algn="ctr" indent="0" marL="0">
              <a:buNone/>
            </a:pPr>
            <a:r>
              <a:rPr lang="en-US" sz="4600" b="1" dirty="0">
                <a:solidFill>
                  <a:srgbClr val="DB7F3E"/>
                </a:solidFill>
                <a:latin typeface="Cambria" pitchFamily="34" charset="0"/>
                <a:ea typeface="Cambria" pitchFamily="34" charset="-122"/>
                <a:cs typeface="Cambria" pitchFamily="34" charset="-120"/>
              </a:rPr>
              <a:t>632</a:t>
            </a:r>
            <a:endParaRPr lang="en-US" sz="4600" dirty="0"/>
          </a:p>
        </p:txBody>
      </p:sp>
      <p:sp>
        <p:nvSpPr>
          <p:cNvPr id="10" name="Text 7"/>
          <p:cNvSpPr txBox="1"/>
          <p:nvPr/>
        </p:nvSpPr>
        <p:spPr>
          <a:xfrm>
            <a:off x="4368698" y="2441448"/>
            <a:ext cx="3454298" cy="320040"/>
          </a:xfrm>
          <a:prstGeom prst="rect">
            <a:avLst/>
          </a:prstGeom>
          <a:noFill/>
          <a:ln/>
        </p:spPr>
        <p:txBody>
          <a:bodyPr wrap="square" lIns="0" tIns="0" rIns="0" bIns="0" rtlCol="0" anchor="ctr"/>
          <a:lstStyle/>
          <a:p>
            <a:pPr algn="ctr" indent="0" marL="0">
              <a:buNone/>
            </a:pPr>
            <a:r>
              <a:rPr lang="en-US" sz="1250" b="1" spc="100" kern="0" dirty="0">
                <a:solidFill>
                  <a:srgbClr val="0B3D59"/>
                </a:solidFill>
                <a:latin typeface="Calibri" pitchFamily="34" charset="0"/>
                <a:ea typeface="Calibri" pitchFamily="34" charset="-122"/>
                <a:cs typeface="Calibri" pitchFamily="34" charset="-120"/>
              </a:rPr>
              <a:t>PACIENTES</a:t>
            </a:r>
            <a:endParaRPr lang="en-US" sz="1250" dirty="0"/>
          </a:p>
        </p:txBody>
      </p:sp>
      <p:sp>
        <p:nvSpPr>
          <p:cNvPr id="11" name="Shape 8"/>
          <p:cNvSpPr/>
          <p:nvPr/>
        </p:nvSpPr>
        <p:spPr>
          <a:xfrm>
            <a:off x="8097317" y="1417320"/>
            <a:ext cx="3454298" cy="1554480"/>
          </a:xfrm>
          <a:prstGeom prst="roundRect">
            <a:avLst>
              <a:gd name="adj" fmla="val 7059"/>
            </a:avLst>
          </a:prstGeom>
          <a:solidFill>
            <a:srgbClr val="FFFFFF"/>
          </a:solidFill>
          <a:ln/>
          <a:effectLst>
            <a:outerShdw sx="100000" sy="100000" kx="0" ky="0" algn="bl" rotWithShape="0" blurRad="88900" dist="25400" dir="5400000">
              <a:srgbClr val="0B3D59">
                <a:alpha val="20000"/>
              </a:srgbClr>
            </a:outerShdw>
          </a:effectLst>
        </p:spPr>
      </p:sp>
      <p:sp>
        <p:nvSpPr>
          <p:cNvPr id="12" name="Text 9"/>
          <p:cNvSpPr txBox="1"/>
          <p:nvPr/>
        </p:nvSpPr>
        <p:spPr>
          <a:xfrm>
            <a:off x="8097317" y="1581912"/>
            <a:ext cx="3454298" cy="868680"/>
          </a:xfrm>
          <a:prstGeom prst="rect">
            <a:avLst/>
          </a:prstGeom>
          <a:noFill/>
          <a:ln/>
        </p:spPr>
        <p:txBody>
          <a:bodyPr wrap="square" lIns="0" tIns="0" rIns="0" bIns="0" rtlCol="0" anchor="ctr"/>
          <a:lstStyle/>
          <a:p>
            <a:pPr algn="ctr" indent="0" marL="0">
              <a:buNone/>
            </a:pPr>
            <a:r>
              <a:rPr lang="en-US" sz="4600" b="1" dirty="0">
                <a:solidFill>
                  <a:srgbClr val="DB7F3E"/>
                </a:solidFill>
                <a:latin typeface="Cambria" pitchFamily="34" charset="0"/>
                <a:ea typeface="Cambria" pitchFamily="34" charset="-122"/>
                <a:cs typeface="Cambria" pitchFamily="34" charset="-120"/>
              </a:rPr>
              <a:t>11</a:t>
            </a:r>
            <a:endParaRPr lang="en-US" sz="4600" dirty="0"/>
          </a:p>
        </p:txBody>
      </p:sp>
      <p:sp>
        <p:nvSpPr>
          <p:cNvPr id="13" name="Text 10"/>
          <p:cNvSpPr txBox="1"/>
          <p:nvPr/>
        </p:nvSpPr>
        <p:spPr>
          <a:xfrm>
            <a:off x="8097317" y="2441448"/>
            <a:ext cx="3454298" cy="320040"/>
          </a:xfrm>
          <a:prstGeom prst="rect">
            <a:avLst/>
          </a:prstGeom>
          <a:noFill/>
          <a:ln/>
        </p:spPr>
        <p:txBody>
          <a:bodyPr wrap="square" lIns="0" tIns="0" rIns="0" bIns="0" rtlCol="0" anchor="ctr"/>
          <a:lstStyle/>
          <a:p>
            <a:pPr algn="ctr" indent="0" marL="0">
              <a:buNone/>
            </a:pPr>
            <a:r>
              <a:rPr lang="en-US" sz="1250" b="1" spc="100" kern="0" dirty="0">
                <a:solidFill>
                  <a:srgbClr val="0B3D59"/>
                </a:solidFill>
                <a:latin typeface="Calibri" pitchFamily="34" charset="0"/>
                <a:ea typeface="Calibri" pitchFamily="34" charset="-122"/>
                <a:cs typeface="Calibri" pitchFamily="34" charset="-120"/>
              </a:rPr>
              <a:t>CENTROS</a:t>
            </a:r>
            <a:endParaRPr lang="en-US" sz="1250" dirty="0"/>
          </a:p>
        </p:txBody>
      </p:sp>
      <p:sp>
        <p:nvSpPr>
          <p:cNvPr id="14" name="Text 11"/>
          <p:cNvSpPr txBox="1"/>
          <p:nvPr/>
        </p:nvSpPr>
        <p:spPr>
          <a:xfrm>
            <a:off x="640080" y="3227832"/>
            <a:ext cx="10911535" cy="365760"/>
          </a:xfrm>
          <a:prstGeom prst="rect">
            <a:avLst/>
          </a:prstGeom>
          <a:noFill/>
          <a:ln/>
        </p:spPr>
        <p:txBody>
          <a:bodyPr wrap="square" lIns="0" tIns="0" rIns="0" bIns="0" rtlCol="0" anchor="ctr"/>
          <a:lstStyle/>
          <a:p>
            <a:pPr indent="0" marL="0">
              <a:buNone/>
            </a:pPr>
            <a:r>
              <a:rPr lang="en-US" sz="1400" i="1" dirty="0">
                <a:solidFill>
                  <a:srgbClr val="5B6B77"/>
                </a:solidFill>
                <a:latin typeface="Calibri" pitchFamily="34" charset="0"/>
                <a:ea typeface="Calibri" pitchFamily="34" charset="-122"/>
                <a:cs typeface="Calibri" pitchFamily="34" charset="-120"/>
              </a:rPr>
              <a:t>Cinco variables: image_id, patient_id, center_id, image_num y label.</a:t>
            </a:r>
            <a:endParaRPr lang="en-US" sz="1400" dirty="0"/>
          </a:p>
        </p:txBody>
      </p:sp>
      <p:sp>
        <p:nvSpPr>
          <p:cNvPr id="15" name="Shape 12"/>
          <p:cNvSpPr/>
          <p:nvPr/>
        </p:nvSpPr>
        <p:spPr>
          <a:xfrm>
            <a:off x="640080" y="3749040"/>
            <a:ext cx="10911535" cy="603504"/>
          </a:xfrm>
          <a:prstGeom prst="roundRect">
            <a:avLst>
              <a:gd name="adj" fmla="val 15152"/>
            </a:avLst>
          </a:prstGeom>
          <a:solidFill>
            <a:srgbClr val="FFFFFF"/>
          </a:solidFill>
          <a:ln/>
          <a:effectLst>
            <a:outerShdw sx="100000" sy="100000" kx="0" ky="0" algn="bl" rotWithShape="0" blurRad="88900" dist="25400" dir="5400000">
              <a:srgbClr val="0B3D59">
                <a:alpha val="20000"/>
              </a:srgbClr>
            </a:outerShdw>
          </a:effectLst>
        </p:spPr>
      </p:sp>
      <p:sp>
        <p:nvSpPr>
          <p:cNvPr id="16" name="Shape 13"/>
          <p:cNvSpPr/>
          <p:nvPr/>
        </p:nvSpPr>
        <p:spPr>
          <a:xfrm>
            <a:off x="786384" y="3831336"/>
            <a:ext cx="438912" cy="438912"/>
          </a:xfrm>
          <a:prstGeom prst="ellipse">
            <a:avLst/>
          </a:prstGeom>
          <a:solidFill>
            <a:srgbClr val="1C7293"/>
          </a:solidFill>
          <a:ln/>
        </p:spPr>
      </p:sp>
      <p:pic>
        <p:nvPicPr>
          <p:cNvPr id="17" name="Image 1" descr="/home/claude/work/assets/icons/check.png">    </p:cNvPr>
          <p:cNvPicPr>
            <a:picLocks noChangeAspect="1"/>
          </p:cNvPicPr>
          <p:nvPr/>
        </p:nvPicPr>
        <p:blipFill>
          <a:blip r:embed="rId2"/>
          <a:stretch>
            <a:fillRect/>
          </a:stretch>
        </p:blipFill>
        <p:spPr>
          <a:xfrm>
            <a:off x="886968" y="3931920"/>
            <a:ext cx="237744" cy="237744"/>
          </a:xfrm>
          <a:prstGeom prst="rect">
            <a:avLst/>
          </a:prstGeom>
        </p:spPr>
      </p:pic>
      <p:sp>
        <p:nvSpPr>
          <p:cNvPr id="18" name="Text 14"/>
          <p:cNvSpPr txBox="1"/>
          <p:nvPr/>
        </p:nvSpPr>
        <p:spPr>
          <a:xfrm>
            <a:off x="1417320" y="3749040"/>
            <a:ext cx="9905695" cy="603504"/>
          </a:xfrm>
          <a:prstGeom prst="rect">
            <a:avLst/>
          </a:prstGeom>
          <a:noFill/>
          <a:ln/>
        </p:spPr>
        <p:txBody>
          <a:bodyPr wrap="square" lIns="0" tIns="0" rIns="0" bIns="0" rtlCol="0" anchor="ctr"/>
          <a:lstStyle/>
          <a:p>
            <a:pPr indent="0" marL="0">
              <a:buNone/>
            </a:pPr>
            <a:r>
              <a:rPr lang="en-US" sz="1400" dirty="0">
                <a:solidFill>
                  <a:srgbClr val="16232E"/>
                </a:solidFill>
                <a:latin typeface="Calibri" pitchFamily="34" charset="0"/>
                <a:ea typeface="Calibri" pitchFamily="34" charset="-122"/>
                <a:cs typeface="Calibri" pitchFamily="34" charset="-120"/>
              </a:rPr>
              <a:t>0 nulos y 0 duplicados en el CSV; identificadores y etiquetas consistentes.</a:t>
            </a:r>
            <a:endParaRPr lang="en-US" sz="1400" dirty="0"/>
          </a:p>
        </p:txBody>
      </p:sp>
      <p:sp>
        <p:nvSpPr>
          <p:cNvPr id="19" name="Shape 15"/>
          <p:cNvSpPr/>
          <p:nvPr/>
        </p:nvSpPr>
        <p:spPr>
          <a:xfrm>
            <a:off x="640080" y="4535424"/>
            <a:ext cx="10911535" cy="603504"/>
          </a:xfrm>
          <a:prstGeom prst="roundRect">
            <a:avLst>
              <a:gd name="adj" fmla="val 15152"/>
            </a:avLst>
          </a:prstGeom>
          <a:solidFill>
            <a:srgbClr val="FFFFFF"/>
          </a:solidFill>
          <a:ln/>
          <a:effectLst>
            <a:outerShdw sx="100000" sy="100000" kx="0" ky="0" algn="bl" rotWithShape="0" blurRad="88900" dist="25400" dir="5400000">
              <a:srgbClr val="0B3D59">
                <a:alpha val="20000"/>
              </a:srgbClr>
            </a:outerShdw>
          </a:effectLst>
        </p:spPr>
      </p:sp>
      <p:sp>
        <p:nvSpPr>
          <p:cNvPr id="20" name="Shape 16"/>
          <p:cNvSpPr/>
          <p:nvPr/>
        </p:nvSpPr>
        <p:spPr>
          <a:xfrm>
            <a:off x="786384" y="4617720"/>
            <a:ext cx="438912" cy="438912"/>
          </a:xfrm>
          <a:prstGeom prst="ellipse">
            <a:avLst/>
          </a:prstGeom>
          <a:solidFill>
            <a:srgbClr val="1C7293"/>
          </a:solidFill>
          <a:ln/>
        </p:spPr>
      </p:sp>
      <p:pic>
        <p:nvPicPr>
          <p:cNvPr id="21" name="Image 2" descr="/home/claude/work/assets/icons/images.png">    </p:cNvPr>
          <p:cNvPicPr>
            <a:picLocks noChangeAspect="1"/>
          </p:cNvPicPr>
          <p:nvPr/>
        </p:nvPicPr>
        <p:blipFill>
          <a:blip r:embed="rId3"/>
          <a:stretch>
            <a:fillRect/>
          </a:stretch>
        </p:blipFill>
        <p:spPr>
          <a:xfrm>
            <a:off x="886968" y="4718304"/>
            <a:ext cx="237744" cy="237744"/>
          </a:xfrm>
          <a:prstGeom prst="rect">
            <a:avLst/>
          </a:prstGeom>
        </p:spPr>
      </p:pic>
      <p:sp>
        <p:nvSpPr>
          <p:cNvPr id="22" name="Text 17"/>
          <p:cNvSpPr txBox="1"/>
          <p:nvPr/>
        </p:nvSpPr>
        <p:spPr>
          <a:xfrm>
            <a:off x="1417320" y="4535424"/>
            <a:ext cx="9905695" cy="603504"/>
          </a:xfrm>
          <a:prstGeom prst="rect">
            <a:avLst/>
          </a:prstGeom>
          <a:noFill/>
          <a:ln/>
        </p:spPr>
        <p:txBody>
          <a:bodyPr wrap="square" lIns="0" tIns="0" rIns="0" bIns="0" rtlCol="0" anchor="ctr"/>
          <a:lstStyle/>
          <a:p>
            <a:pPr indent="0" marL="0">
              <a:buNone/>
            </a:pPr>
            <a:r>
              <a:rPr lang="en-US" sz="1400" dirty="0">
                <a:solidFill>
                  <a:srgbClr val="16232E"/>
                </a:solidFill>
                <a:latin typeface="Calibri" pitchFamily="34" charset="0"/>
                <a:ea typeface="Calibri" pitchFamily="34" charset="-122"/>
                <a:cs typeface="Calibri" pitchFamily="34" charset="-120"/>
              </a:rPr>
              <a:t>6 imágenes locales: 3 etiquetadas y 3 sin correspondencia en el CSV.</a:t>
            </a:r>
            <a:endParaRPr lang="en-US" sz="1400" dirty="0"/>
          </a:p>
        </p:txBody>
      </p:sp>
      <p:sp>
        <p:nvSpPr>
          <p:cNvPr id="23" name="Text 18"/>
          <p:cNvSpPr txBox="1"/>
          <p:nvPr/>
        </p:nvSpPr>
        <p:spPr>
          <a:xfrm>
            <a:off x="10820095" y="6473952"/>
            <a:ext cx="914400" cy="274320"/>
          </a:xfrm>
          <a:prstGeom prst="rect">
            <a:avLst/>
          </a:prstGeom>
          <a:noFill/>
          <a:ln/>
        </p:spPr>
        <p:txBody>
          <a:bodyPr wrap="square" lIns="0" tIns="0" rIns="0" bIns="0" rtlCol="0" anchor="ctr"/>
          <a:lstStyle/>
          <a:p>
            <a:pPr algn="r" indent="0" marL="0">
              <a:buNone/>
            </a:pPr>
            <a:r>
              <a:rPr lang="en-US" sz="900" dirty="0">
                <a:solidFill>
                  <a:srgbClr val="5B6B77"/>
                </a:solidFill>
                <a:latin typeface="Calibri" pitchFamily="34" charset="0"/>
                <a:ea typeface="Calibri" pitchFamily="34" charset="-122"/>
                <a:cs typeface="Calibri" pitchFamily="34" charset="-120"/>
              </a:rPr>
              <a:t>03 / 09</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9FA"/>
        </a:solidFill>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1C7293"/>
          </a:solidFill>
          <a:ln/>
        </p:spPr>
      </p:sp>
      <p:pic>
        <p:nvPicPr>
          <p:cNvPr id="3" name="Image 0" descr="/home/claude/work/assets/icons/images.png">    </p:cNvPr>
          <p:cNvPicPr>
            <a:picLocks noChangeAspect="1"/>
          </p:cNvPicPr>
          <p:nvPr/>
        </p:nvPicPr>
        <p:blipFill>
          <a:blip r:embed="rId1"/>
          <a:stretch>
            <a:fillRect/>
          </a:stretch>
        </p:blipFill>
        <p:spPr>
          <a:xfrm>
            <a:off x="777240" y="640080"/>
            <a:ext cx="292608" cy="292608"/>
          </a:xfrm>
          <a:prstGeom prst="rect">
            <a:avLst/>
          </a:prstGeom>
        </p:spPr>
      </p:pic>
      <p:sp>
        <p:nvSpPr>
          <p:cNvPr id="4" name="Text 1"/>
          <p:cNvSpPr txBox="1"/>
          <p:nvPr/>
        </p:nvSpPr>
        <p:spPr>
          <a:xfrm>
            <a:off x="1417320" y="448056"/>
            <a:ext cx="10134295" cy="676656"/>
          </a:xfrm>
          <a:prstGeom prst="rect">
            <a:avLst/>
          </a:prstGeom>
          <a:noFill/>
          <a:ln/>
        </p:spPr>
        <p:txBody>
          <a:bodyPr wrap="square" lIns="0" tIns="0" rIns="0" bIns="0" rtlCol="0" anchor="ctr"/>
          <a:lstStyle/>
          <a:p>
            <a:pPr indent="0" marL="0">
              <a:buNone/>
            </a:pPr>
            <a:r>
              <a:rPr lang="en-US" sz="2700" b="1" dirty="0">
                <a:solidFill>
                  <a:srgbClr val="0B3D59"/>
                </a:solidFill>
                <a:latin typeface="Cambria" pitchFamily="34" charset="0"/>
                <a:ea typeface="Cambria" pitchFamily="34" charset="-122"/>
                <a:cs typeface="Cambria" pitchFamily="34" charset="-120"/>
              </a:rPr>
              <a:t>Distribución de clases</a:t>
            </a:r>
            <a:endParaRPr lang="en-US" sz="2700" dirty="0"/>
          </a:p>
        </p:txBody>
      </p:sp>
      <p:sp>
        <p:nvSpPr>
          <p:cNvPr id="5" name="Shape 2"/>
          <p:cNvSpPr/>
          <p:nvPr/>
        </p:nvSpPr>
        <p:spPr>
          <a:xfrm>
            <a:off x="1478128" y="1234440"/>
            <a:ext cx="9235440" cy="3828226"/>
          </a:xfrm>
          <a:prstGeom prst="roundRect">
            <a:avLst>
              <a:gd name="adj" fmla="val 2866"/>
            </a:avLst>
          </a:prstGeom>
          <a:solidFill>
            <a:srgbClr val="FFFFFF"/>
          </a:solidFill>
          <a:ln/>
          <a:effectLst>
            <a:outerShdw sx="100000" sy="100000" kx="0" ky="0" algn="bl" rotWithShape="0" blurRad="88900" dist="25400" dir="5400000">
              <a:srgbClr val="0B3D59">
                <a:alpha val="20000"/>
              </a:srgbClr>
            </a:outerShdw>
          </a:effectLst>
        </p:spPr>
      </p:sp>
      <p:pic>
        <p:nvPicPr>
          <p:cNvPr id="6" name="Image 1" descr="/home/claude/work/assets/slide_04_balance_clases_r.png">    </p:cNvPr>
          <p:cNvPicPr>
            <a:picLocks noChangeAspect="1"/>
          </p:cNvPicPr>
          <p:nvPr/>
        </p:nvPicPr>
        <p:blipFill>
          <a:blip r:embed="rId2"/>
          <a:stretch>
            <a:fillRect/>
          </a:stretch>
        </p:blipFill>
        <p:spPr>
          <a:xfrm>
            <a:off x="1706728" y="1417320"/>
            <a:ext cx="8778240" cy="3462466"/>
          </a:xfrm>
          <a:prstGeom prst="rect">
            <a:avLst/>
          </a:prstGeom>
        </p:spPr>
      </p:pic>
      <p:sp>
        <p:nvSpPr>
          <p:cNvPr id="7" name="Text 3"/>
          <p:cNvSpPr txBox="1"/>
          <p:nvPr/>
        </p:nvSpPr>
        <p:spPr>
          <a:xfrm>
            <a:off x="1706728" y="5026090"/>
            <a:ext cx="8778240" cy="310896"/>
          </a:xfrm>
          <a:prstGeom prst="rect">
            <a:avLst/>
          </a:prstGeom>
          <a:noFill/>
          <a:ln/>
        </p:spPr>
        <p:txBody>
          <a:bodyPr wrap="square" lIns="0" tIns="0" rIns="0" bIns="0" rtlCol="0" anchor="ctr"/>
          <a:lstStyle/>
          <a:p>
            <a:pPr algn="ctr" indent="0" marL="0">
              <a:buNone/>
            </a:pPr>
            <a:r>
              <a:rPr lang="en-US" sz="1050" i="1" dirty="0">
                <a:solidFill>
                  <a:srgbClr val="5B6B77"/>
                </a:solidFill>
                <a:latin typeface="Calibri" pitchFamily="34" charset="0"/>
                <a:ea typeface="Calibri" pitchFamily="34" charset="-122"/>
                <a:cs typeface="Calibri" pitchFamily="34" charset="-120"/>
              </a:rPr>
              <a:t>Frecuencias y proporciones por imagen y paciente.</a:t>
            </a:r>
            <a:endParaRPr lang="en-US" sz="1050" dirty="0"/>
          </a:p>
        </p:txBody>
      </p:sp>
      <p:sp>
        <p:nvSpPr>
          <p:cNvPr id="8" name="Text 4"/>
          <p:cNvSpPr txBox="1"/>
          <p:nvPr/>
        </p:nvSpPr>
        <p:spPr>
          <a:xfrm>
            <a:off x="640080" y="5391850"/>
            <a:ext cx="10911535" cy="1783080"/>
          </a:xfrm>
          <a:prstGeom prst="rect">
            <a:avLst/>
          </a:prstGeom>
          <a:noFill/>
          <a:ln/>
        </p:spPr>
        <p:txBody>
          <a:bodyPr wrap="square" lIns="0" tIns="0" rIns="0" bIns="0" rtlCol="0" anchor="t"/>
          <a:lstStyle/>
          <a:p>
            <a:pPr marL="203200" indent="-203200">
              <a:spcAft>
                <a:spcPts val="400"/>
              </a:spcAft>
              <a:buSzPct val="100000"/>
              <a:buChar char="●"/>
            </a:pPr>
            <a:r>
              <a:rPr lang="en-US" sz="1350" dirty="0">
                <a:solidFill>
                  <a:srgbClr val="16232E"/>
                </a:solidFill>
                <a:latin typeface="Calibri" pitchFamily="34" charset="0"/>
                <a:ea typeface="Calibri" pitchFamily="34" charset="-122"/>
                <a:cs typeface="Calibri" pitchFamily="34" charset="-120"/>
              </a:rPr>
              <a:t>CE: 72.55% de imágenes y 72.31% de pacientes.</a:t>
            </a:r>
            <a:endParaRPr lang="en-US" sz="1350" dirty="0"/>
          </a:p>
          <a:p>
            <a:pPr marL="203200" indent="-203200">
              <a:spcAft>
                <a:spcPts val="400"/>
              </a:spcAft>
              <a:buSzPct val="100000"/>
              <a:buChar char="●"/>
            </a:pPr>
            <a:r>
              <a:rPr lang="en-US" sz="1350" dirty="0">
                <a:solidFill>
                  <a:srgbClr val="16232E"/>
                </a:solidFill>
                <a:latin typeface="Calibri" pitchFamily="34" charset="0"/>
                <a:ea typeface="Calibri" pitchFamily="34" charset="-122"/>
                <a:cs typeface="Calibri" pitchFamily="34" charset="-120"/>
              </a:rPr>
              <a:t>El predominio de CE se mantiene al contar pacientes únicos.</a:t>
            </a:r>
            <a:endParaRPr lang="en-US" sz="1350" dirty="0"/>
          </a:p>
          <a:p>
            <a:pPr marL="203200" indent="-203200">
              <a:spcAft>
                <a:spcPts val="400"/>
              </a:spcAft>
              <a:buSzPct val="100000"/>
              <a:buChar char="●"/>
            </a:pPr>
            <a:r>
              <a:rPr lang="en-US" sz="1350" dirty="0">
                <a:solidFill>
                  <a:srgbClr val="16232E"/>
                </a:solidFill>
                <a:latin typeface="Calibri" pitchFamily="34" charset="0"/>
                <a:ea typeface="Calibri" pitchFamily="34" charset="-122"/>
                <a:cs typeface="Calibri" pitchFamily="34" charset="-120"/>
              </a:rPr>
              <a:t>LAA representa 27.69% de los pacientes.</a:t>
            </a:r>
            <a:endParaRPr lang="en-US" sz="1350" dirty="0"/>
          </a:p>
        </p:txBody>
      </p:sp>
      <p:sp>
        <p:nvSpPr>
          <p:cNvPr id="9" name="Text 5"/>
          <p:cNvSpPr txBox="1"/>
          <p:nvPr/>
        </p:nvSpPr>
        <p:spPr>
          <a:xfrm>
            <a:off x="10820095" y="6473952"/>
            <a:ext cx="914400" cy="274320"/>
          </a:xfrm>
          <a:prstGeom prst="rect">
            <a:avLst/>
          </a:prstGeom>
          <a:noFill/>
          <a:ln/>
        </p:spPr>
        <p:txBody>
          <a:bodyPr wrap="square" lIns="0" tIns="0" rIns="0" bIns="0" rtlCol="0" anchor="ctr"/>
          <a:lstStyle/>
          <a:p>
            <a:pPr algn="r" indent="0" marL="0">
              <a:buNone/>
            </a:pPr>
            <a:r>
              <a:rPr lang="en-US" sz="900" dirty="0">
                <a:solidFill>
                  <a:srgbClr val="5B6B77"/>
                </a:solidFill>
                <a:latin typeface="Calibri" pitchFamily="34" charset="0"/>
                <a:ea typeface="Calibri" pitchFamily="34" charset="-122"/>
                <a:cs typeface="Calibri" pitchFamily="34" charset="-120"/>
              </a:rPr>
              <a:t>04 / 09</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9FA"/>
        </a:solidFill>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1C7293"/>
          </a:solidFill>
          <a:ln/>
        </p:spPr>
      </p:sp>
      <p:pic>
        <p:nvPicPr>
          <p:cNvPr id="3" name="Image 0" descr="/home/claude/work/assets/icons/database.png">    </p:cNvPr>
          <p:cNvPicPr>
            <a:picLocks noChangeAspect="1"/>
          </p:cNvPicPr>
          <p:nvPr/>
        </p:nvPicPr>
        <p:blipFill>
          <a:blip r:embed="rId1"/>
          <a:stretch>
            <a:fillRect/>
          </a:stretch>
        </p:blipFill>
        <p:spPr>
          <a:xfrm>
            <a:off x="777240" y="640080"/>
            <a:ext cx="292608" cy="292608"/>
          </a:xfrm>
          <a:prstGeom prst="rect">
            <a:avLst/>
          </a:prstGeom>
        </p:spPr>
      </p:pic>
      <p:sp>
        <p:nvSpPr>
          <p:cNvPr id="4" name="Text 1"/>
          <p:cNvSpPr txBox="1"/>
          <p:nvPr/>
        </p:nvSpPr>
        <p:spPr>
          <a:xfrm>
            <a:off x="1417320" y="448056"/>
            <a:ext cx="10134295" cy="676656"/>
          </a:xfrm>
          <a:prstGeom prst="rect">
            <a:avLst/>
          </a:prstGeom>
          <a:noFill/>
          <a:ln/>
        </p:spPr>
        <p:txBody>
          <a:bodyPr wrap="square" lIns="0" tIns="0" rIns="0" bIns="0" rtlCol="0" anchor="ctr"/>
          <a:lstStyle/>
          <a:p>
            <a:pPr indent="0" marL="0">
              <a:buNone/>
            </a:pPr>
            <a:r>
              <a:rPr lang="en-US" sz="2700" b="1" dirty="0">
                <a:solidFill>
                  <a:srgbClr val="0B3D59"/>
                </a:solidFill>
                <a:latin typeface="Cambria" pitchFamily="34" charset="0"/>
                <a:ea typeface="Cambria" pitchFamily="34" charset="-122"/>
                <a:cs typeface="Cambria" pitchFamily="34" charset="-120"/>
              </a:rPr>
              <a:t>Diferencias entre centros</a:t>
            </a:r>
            <a:endParaRPr lang="en-US" sz="2700" dirty="0"/>
          </a:p>
        </p:txBody>
      </p:sp>
      <p:sp>
        <p:nvSpPr>
          <p:cNvPr id="5" name="Shape 2"/>
          <p:cNvSpPr/>
          <p:nvPr/>
        </p:nvSpPr>
        <p:spPr>
          <a:xfrm>
            <a:off x="1478128" y="1234440"/>
            <a:ext cx="9235440" cy="3362792"/>
          </a:xfrm>
          <a:prstGeom prst="roundRect">
            <a:avLst>
              <a:gd name="adj" fmla="val 3263"/>
            </a:avLst>
          </a:prstGeom>
          <a:solidFill>
            <a:srgbClr val="FFFFFF"/>
          </a:solidFill>
          <a:ln/>
          <a:effectLst>
            <a:outerShdw sx="100000" sy="100000" kx="0" ky="0" algn="bl" rotWithShape="0" blurRad="88900" dist="25400" dir="5400000">
              <a:srgbClr val="0B3D59">
                <a:alpha val="20000"/>
              </a:srgbClr>
            </a:outerShdw>
          </a:effectLst>
        </p:spPr>
      </p:sp>
      <p:pic>
        <p:nvPicPr>
          <p:cNvPr id="6" name="Image 1" descr="/home/claude/work/assets/slide_05_centro_clase_r.png">    </p:cNvPr>
          <p:cNvPicPr>
            <a:picLocks noChangeAspect="1"/>
          </p:cNvPicPr>
          <p:nvPr/>
        </p:nvPicPr>
        <p:blipFill>
          <a:blip r:embed="rId2"/>
          <a:stretch>
            <a:fillRect/>
          </a:stretch>
        </p:blipFill>
        <p:spPr>
          <a:xfrm>
            <a:off x="1706728" y="1417320"/>
            <a:ext cx="8778240" cy="2997032"/>
          </a:xfrm>
          <a:prstGeom prst="rect">
            <a:avLst/>
          </a:prstGeom>
        </p:spPr>
      </p:pic>
      <p:sp>
        <p:nvSpPr>
          <p:cNvPr id="7" name="Text 3"/>
          <p:cNvSpPr txBox="1"/>
          <p:nvPr/>
        </p:nvSpPr>
        <p:spPr>
          <a:xfrm>
            <a:off x="1706728" y="4560656"/>
            <a:ext cx="8778240" cy="310896"/>
          </a:xfrm>
          <a:prstGeom prst="rect">
            <a:avLst/>
          </a:prstGeom>
          <a:noFill/>
          <a:ln/>
        </p:spPr>
        <p:txBody>
          <a:bodyPr wrap="square" lIns="0" tIns="0" rIns="0" bIns="0" rtlCol="0" anchor="ctr"/>
          <a:lstStyle/>
          <a:p>
            <a:pPr algn="ctr" indent="0" marL="0">
              <a:buNone/>
            </a:pPr>
            <a:r>
              <a:rPr lang="en-US" sz="1050" i="1" dirty="0">
                <a:solidFill>
                  <a:srgbClr val="5B6B77"/>
                </a:solidFill>
                <a:latin typeface="Calibri" pitchFamily="34" charset="0"/>
                <a:ea typeface="Calibri" pitchFamily="34" charset="-122"/>
                <a:cs typeface="Calibri" pitchFamily="34" charset="-120"/>
              </a:rPr>
              <a:t>Frecuencias y proporciones CE/LAA por centro, contando pacientes únicos.</a:t>
            </a:r>
            <a:endParaRPr lang="en-US" sz="1050" dirty="0"/>
          </a:p>
        </p:txBody>
      </p:sp>
      <p:sp>
        <p:nvSpPr>
          <p:cNvPr id="8" name="Text 4"/>
          <p:cNvSpPr txBox="1"/>
          <p:nvPr/>
        </p:nvSpPr>
        <p:spPr>
          <a:xfrm>
            <a:off x="640080" y="4926416"/>
            <a:ext cx="10911535" cy="1783080"/>
          </a:xfrm>
          <a:prstGeom prst="rect">
            <a:avLst/>
          </a:prstGeom>
          <a:noFill/>
          <a:ln/>
        </p:spPr>
        <p:txBody>
          <a:bodyPr wrap="square" lIns="0" tIns="0" rIns="0" bIns="0" rtlCol="0" anchor="t"/>
          <a:lstStyle/>
          <a:p>
            <a:pPr marL="203200" indent="-203200">
              <a:spcAft>
                <a:spcPts val="400"/>
              </a:spcAft>
              <a:buSzPct val="100000"/>
              <a:buChar char="●"/>
            </a:pPr>
            <a:r>
              <a:rPr lang="en-US" sz="1350" dirty="0">
                <a:solidFill>
                  <a:srgbClr val="16232E"/>
                </a:solidFill>
                <a:latin typeface="Calibri" pitchFamily="34" charset="0"/>
                <a:ea typeface="Calibri" pitchFamily="34" charset="-122"/>
                <a:cs typeface="Calibri" pitchFamily="34" charset="-120"/>
              </a:rPr>
              <a:t>El cruce centro × clase se realizó por paciente.</a:t>
            </a:r>
            <a:endParaRPr lang="en-US" sz="1350" dirty="0"/>
          </a:p>
          <a:p>
            <a:pPr marL="203200" indent="-203200">
              <a:spcAft>
                <a:spcPts val="400"/>
              </a:spcAft>
              <a:buSzPct val="100000"/>
              <a:buChar char="●"/>
            </a:pPr>
            <a:r>
              <a:rPr lang="en-US" sz="1350" dirty="0">
                <a:solidFill>
                  <a:srgbClr val="16232E"/>
                </a:solidFill>
                <a:latin typeface="Calibri" pitchFamily="34" charset="0"/>
                <a:ea typeface="Calibri" pitchFamily="34" charset="-122"/>
                <a:cs typeface="Calibri" pitchFamily="34" charset="-120"/>
              </a:rPr>
              <a:t>Proporción CE: 50.0% en el centro 3 y 87.5% en el centro 8.</a:t>
            </a:r>
            <a:endParaRPr lang="en-US" sz="1350" dirty="0"/>
          </a:p>
          <a:p>
            <a:pPr marL="203200" indent="-203200">
              <a:spcAft>
                <a:spcPts val="400"/>
              </a:spcAft>
              <a:buSzPct val="100000"/>
              <a:buChar char="●"/>
            </a:pPr>
            <a:r>
              <a:rPr lang="en-US" sz="1350" dirty="0">
                <a:solidFill>
                  <a:srgbClr val="16232E"/>
                </a:solidFill>
                <a:latin typeface="Calibri" pitchFamily="34" charset="0"/>
                <a:ea typeface="Calibri" pitchFamily="34" charset="-122"/>
                <a:cs typeface="Calibri" pitchFamily="34" charset="-120"/>
              </a:rPr>
              <a:t>El centro 11 aporta 243 pacientes; los centros tienen tamaños distintos.</a:t>
            </a:r>
            <a:endParaRPr lang="en-US" sz="1350" dirty="0"/>
          </a:p>
        </p:txBody>
      </p:sp>
      <p:sp>
        <p:nvSpPr>
          <p:cNvPr id="9" name="Text 5"/>
          <p:cNvSpPr txBox="1"/>
          <p:nvPr/>
        </p:nvSpPr>
        <p:spPr>
          <a:xfrm>
            <a:off x="10820095" y="6473952"/>
            <a:ext cx="914400" cy="274320"/>
          </a:xfrm>
          <a:prstGeom prst="rect">
            <a:avLst/>
          </a:prstGeom>
          <a:noFill/>
          <a:ln/>
        </p:spPr>
        <p:txBody>
          <a:bodyPr wrap="square" lIns="0" tIns="0" rIns="0" bIns="0" rtlCol="0" anchor="ctr"/>
          <a:lstStyle/>
          <a:p>
            <a:pPr algn="r" indent="0" marL="0">
              <a:buNone/>
            </a:pPr>
            <a:r>
              <a:rPr lang="en-US" sz="900" dirty="0">
                <a:solidFill>
                  <a:srgbClr val="5B6B77"/>
                </a:solidFill>
                <a:latin typeface="Calibri" pitchFamily="34" charset="0"/>
                <a:ea typeface="Calibri" pitchFamily="34" charset="-122"/>
                <a:cs typeface="Calibri" pitchFamily="34" charset="-120"/>
              </a:rPr>
              <a:t>05 / 09</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9FA"/>
        </a:solidFill>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1C7293"/>
          </a:solidFill>
          <a:ln/>
        </p:spPr>
      </p:sp>
      <p:pic>
        <p:nvPicPr>
          <p:cNvPr id="3" name="Image 0" descr="/home/claude/work/assets/icons/search.png">    </p:cNvPr>
          <p:cNvPicPr>
            <a:picLocks noChangeAspect="1"/>
          </p:cNvPicPr>
          <p:nvPr/>
        </p:nvPicPr>
        <p:blipFill>
          <a:blip r:embed="rId1"/>
          <a:stretch>
            <a:fillRect/>
          </a:stretch>
        </p:blipFill>
        <p:spPr>
          <a:xfrm>
            <a:off x="777240" y="640080"/>
            <a:ext cx="292608" cy="292608"/>
          </a:xfrm>
          <a:prstGeom prst="rect">
            <a:avLst/>
          </a:prstGeom>
        </p:spPr>
      </p:pic>
      <p:sp>
        <p:nvSpPr>
          <p:cNvPr id="4" name="Text 1"/>
          <p:cNvSpPr txBox="1"/>
          <p:nvPr/>
        </p:nvSpPr>
        <p:spPr>
          <a:xfrm>
            <a:off x="1417320" y="448056"/>
            <a:ext cx="10134295" cy="676656"/>
          </a:xfrm>
          <a:prstGeom prst="rect">
            <a:avLst/>
          </a:prstGeom>
          <a:noFill/>
          <a:ln/>
        </p:spPr>
        <p:txBody>
          <a:bodyPr wrap="square" lIns="0" tIns="0" rIns="0" bIns="0" rtlCol="0" anchor="ctr"/>
          <a:lstStyle/>
          <a:p>
            <a:pPr indent="0" marL="0">
              <a:buNone/>
            </a:pPr>
            <a:r>
              <a:rPr lang="en-US" sz="2700" b="1" dirty="0">
                <a:solidFill>
                  <a:srgbClr val="0B3D59"/>
                </a:solidFill>
                <a:latin typeface="Cambria" pitchFamily="34" charset="0"/>
                <a:ea typeface="Cambria" pitchFamily="34" charset="-122"/>
                <a:cs typeface="Cambria" pitchFamily="34" charset="-120"/>
              </a:rPr>
              <a:t>Imágenes por paciente y atípicos</a:t>
            </a:r>
            <a:endParaRPr lang="en-US" sz="2700" dirty="0"/>
          </a:p>
        </p:txBody>
      </p:sp>
      <p:sp>
        <p:nvSpPr>
          <p:cNvPr id="5" name="Text 2"/>
          <p:cNvSpPr txBox="1"/>
          <p:nvPr/>
        </p:nvSpPr>
        <p:spPr>
          <a:xfrm>
            <a:off x="640080" y="1371600"/>
            <a:ext cx="10911535" cy="178308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16232E"/>
                </a:solidFill>
                <a:latin typeface="Calibri" pitchFamily="34" charset="0"/>
                <a:ea typeface="Calibri" pitchFamily="34" charset="-122"/>
                <a:cs typeface="Calibri" pitchFamily="34" charset="-120"/>
              </a:rPr>
              <a:t>Media: 1.19 · desviación estándar: 0.56 · mediana: 1.</a:t>
            </a:r>
            <a:endParaRPr lang="en-US" sz="1400" dirty="0"/>
          </a:p>
          <a:p>
            <a:pPr marL="203200" indent="-203200">
              <a:spcAft>
                <a:spcPts val="600"/>
              </a:spcAft>
              <a:buSzPct val="100000"/>
              <a:buChar char="●"/>
            </a:pPr>
            <a:r>
              <a:rPr lang="en-US" sz="1400" dirty="0">
                <a:solidFill>
                  <a:srgbClr val="16232E"/>
                </a:solidFill>
                <a:latin typeface="Calibri" pitchFamily="34" charset="0"/>
                <a:ea typeface="Calibri" pitchFamily="34" charset="-122"/>
                <a:cs typeface="Calibri" pitchFamily="34" charset="-120"/>
              </a:rPr>
              <a:t>89 pacientes tienen varias imágenes; máximo: 5.</a:t>
            </a:r>
            <a:endParaRPr lang="en-US" sz="1400" dirty="0"/>
          </a:p>
          <a:p>
            <a:pPr marL="203200" indent="-203200">
              <a:spcAft>
                <a:spcPts val="600"/>
              </a:spcAft>
              <a:buSzPct val="100000"/>
              <a:buChar char="●"/>
            </a:pPr>
            <a:r>
              <a:rPr lang="en-US" sz="1400" dirty="0">
                <a:solidFill>
                  <a:srgbClr val="16232E"/>
                </a:solidFill>
                <a:latin typeface="Calibri" pitchFamily="34" charset="0"/>
                <a:ea typeface="Calibri" pitchFamily="34" charset="-122"/>
                <a:cs typeface="Calibri" pitchFamily="34" charset="-120"/>
              </a:rPr>
              <a:t>Se conservaron las repeticiones válidas señaladas como atípicas.</a:t>
            </a:r>
            <a:endParaRPr lang="en-US" sz="1400" dirty="0"/>
          </a:p>
        </p:txBody>
      </p:sp>
      <p:sp>
        <p:nvSpPr>
          <p:cNvPr id="6" name="Shape 3"/>
          <p:cNvSpPr/>
          <p:nvPr/>
        </p:nvSpPr>
        <p:spPr>
          <a:xfrm>
            <a:off x="1661008" y="2743200"/>
            <a:ext cx="8869680" cy="3683957"/>
          </a:xfrm>
          <a:prstGeom prst="roundRect">
            <a:avLst>
              <a:gd name="adj" fmla="val 2979"/>
            </a:avLst>
          </a:prstGeom>
          <a:solidFill>
            <a:srgbClr val="FFFFFF"/>
          </a:solidFill>
          <a:ln/>
          <a:effectLst>
            <a:outerShdw sx="100000" sy="100000" kx="0" ky="0" algn="bl" rotWithShape="0" blurRad="88900" dist="25400" dir="5400000">
              <a:srgbClr val="0B3D59">
                <a:alpha val="20000"/>
              </a:srgbClr>
            </a:outerShdw>
          </a:effectLst>
        </p:spPr>
      </p:sp>
      <p:pic>
        <p:nvPicPr>
          <p:cNvPr id="7" name="Image 1" descr="/home/claude/work/assets/slide_06_imagenes_por_paciente_r.png">    </p:cNvPr>
          <p:cNvPicPr>
            <a:picLocks noChangeAspect="1"/>
          </p:cNvPicPr>
          <p:nvPr/>
        </p:nvPicPr>
        <p:blipFill>
          <a:blip r:embed="rId2"/>
          <a:stretch>
            <a:fillRect/>
          </a:stretch>
        </p:blipFill>
        <p:spPr>
          <a:xfrm>
            <a:off x="1889608" y="2926080"/>
            <a:ext cx="8412480" cy="3318197"/>
          </a:xfrm>
          <a:prstGeom prst="rect">
            <a:avLst/>
          </a:prstGeom>
        </p:spPr>
      </p:pic>
      <p:sp>
        <p:nvSpPr>
          <p:cNvPr id="8" name="Text 4"/>
          <p:cNvSpPr txBox="1"/>
          <p:nvPr/>
        </p:nvSpPr>
        <p:spPr>
          <a:xfrm>
            <a:off x="1889608" y="6390581"/>
            <a:ext cx="8412480" cy="310896"/>
          </a:xfrm>
          <a:prstGeom prst="rect">
            <a:avLst/>
          </a:prstGeom>
          <a:noFill/>
          <a:ln/>
        </p:spPr>
        <p:txBody>
          <a:bodyPr wrap="square" lIns="0" tIns="0" rIns="0" bIns="0" rtlCol="0" anchor="ctr"/>
          <a:lstStyle/>
          <a:p>
            <a:pPr algn="ctr" indent="0" marL="0">
              <a:buNone/>
            </a:pPr>
            <a:r>
              <a:rPr lang="en-US" sz="1050" i="1" dirty="0">
                <a:solidFill>
                  <a:srgbClr val="5B6B77"/>
                </a:solidFill>
                <a:latin typeface="Calibri" pitchFamily="34" charset="0"/>
                <a:ea typeface="Calibri" pitchFamily="34" charset="-122"/>
                <a:cs typeface="Calibri" pitchFamily="34" charset="-120"/>
              </a:rPr>
              <a:t>Histograma y diagramas de caja del número de imágenes por paciente.</a:t>
            </a:r>
            <a:endParaRPr lang="en-US" sz="1050" dirty="0"/>
          </a:p>
        </p:txBody>
      </p:sp>
      <p:sp>
        <p:nvSpPr>
          <p:cNvPr id="9" name="Text 5"/>
          <p:cNvSpPr txBox="1"/>
          <p:nvPr/>
        </p:nvSpPr>
        <p:spPr>
          <a:xfrm>
            <a:off x="10820095" y="6473952"/>
            <a:ext cx="914400" cy="274320"/>
          </a:xfrm>
          <a:prstGeom prst="rect">
            <a:avLst/>
          </a:prstGeom>
          <a:noFill/>
          <a:ln/>
        </p:spPr>
        <p:txBody>
          <a:bodyPr wrap="square" lIns="0" tIns="0" rIns="0" bIns="0" rtlCol="0" anchor="ctr"/>
          <a:lstStyle/>
          <a:p>
            <a:pPr algn="r" indent="0" marL="0">
              <a:buNone/>
            </a:pPr>
            <a:r>
              <a:rPr lang="en-US" sz="900" dirty="0">
                <a:solidFill>
                  <a:srgbClr val="5B6B77"/>
                </a:solidFill>
                <a:latin typeface="Calibri" pitchFamily="34" charset="0"/>
                <a:ea typeface="Calibri" pitchFamily="34" charset="-122"/>
                <a:cs typeface="Calibri" pitchFamily="34" charset="-120"/>
              </a:rPr>
              <a:t>06 / 09</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9FA"/>
        </a:solidFill>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1C7293"/>
          </a:solidFill>
          <a:ln/>
        </p:spPr>
      </p:sp>
      <p:pic>
        <p:nvPicPr>
          <p:cNvPr id="3" name="Image 0" descr="/home/claude/work/assets/icons/microscope.png">    </p:cNvPr>
          <p:cNvPicPr>
            <a:picLocks noChangeAspect="1"/>
          </p:cNvPicPr>
          <p:nvPr/>
        </p:nvPicPr>
        <p:blipFill>
          <a:blip r:embed="rId1"/>
          <a:stretch>
            <a:fillRect/>
          </a:stretch>
        </p:blipFill>
        <p:spPr>
          <a:xfrm>
            <a:off x="777240" y="640080"/>
            <a:ext cx="292608" cy="292608"/>
          </a:xfrm>
          <a:prstGeom prst="rect">
            <a:avLst/>
          </a:prstGeom>
        </p:spPr>
      </p:pic>
      <p:sp>
        <p:nvSpPr>
          <p:cNvPr id="4" name="Text 1"/>
          <p:cNvSpPr txBox="1"/>
          <p:nvPr/>
        </p:nvSpPr>
        <p:spPr>
          <a:xfrm>
            <a:off x="1417320" y="448056"/>
            <a:ext cx="10134295" cy="676656"/>
          </a:xfrm>
          <a:prstGeom prst="rect">
            <a:avLst/>
          </a:prstGeom>
          <a:noFill/>
          <a:ln/>
        </p:spPr>
        <p:txBody>
          <a:bodyPr wrap="square" lIns="0" tIns="0" rIns="0" bIns="0" rtlCol="0" anchor="ctr"/>
          <a:lstStyle/>
          <a:p>
            <a:pPr indent="0" marL="0">
              <a:buNone/>
            </a:pPr>
            <a:r>
              <a:rPr lang="en-US" sz="2700" b="1" dirty="0">
                <a:solidFill>
                  <a:srgbClr val="0B3D59"/>
                </a:solidFill>
                <a:latin typeface="Cambria" pitchFamily="34" charset="0"/>
                <a:ea typeface="Cambria" pitchFamily="34" charset="-122"/>
                <a:cs typeface="Cambria" pitchFamily="34" charset="-120"/>
              </a:rPr>
              <a:t>Preprocesamiento de imágenes</a:t>
            </a:r>
            <a:endParaRPr lang="en-US" sz="2700" dirty="0"/>
          </a:p>
        </p:txBody>
      </p:sp>
      <p:sp>
        <p:nvSpPr>
          <p:cNvPr id="5" name="Text 2"/>
          <p:cNvSpPr txBox="1"/>
          <p:nvPr/>
        </p:nvSpPr>
        <p:spPr>
          <a:xfrm>
            <a:off x="640080" y="2514600"/>
            <a:ext cx="4434840" cy="1783080"/>
          </a:xfrm>
          <a:prstGeom prst="rect">
            <a:avLst/>
          </a:prstGeom>
          <a:noFill/>
          <a:ln/>
        </p:spPr>
        <p:txBody>
          <a:bodyPr wrap="square" lIns="0" tIns="0" rIns="0" bIns="0" rtlCol="0" anchor="t"/>
          <a:lstStyle/>
          <a:p>
            <a:pPr marL="203200" indent="-203200">
              <a:spcAft>
                <a:spcPts val="2200"/>
              </a:spcAft>
              <a:buSzPct val="100000"/>
              <a:buChar char="●"/>
            </a:pPr>
            <a:r>
              <a:rPr lang="en-US" sz="1550" dirty="0">
                <a:solidFill>
                  <a:srgbClr val="16232E"/>
                </a:solidFill>
                <a:latin typeface="Calibri" pitchFamily="34" charset="0"/>
                <a:ea typeface="Calibri" pitchFamily="34" charset="-122"/>
                <a:cs typeface="Calibri" pitchFamily="34" charset="-120"/>
              </a:rPr>
              <a:t>Conversión a RGB y separación aproximada de tejido y fondo.</a:t>
            </a:r>
            <a:endParaRPr lang="en-US" sz="1550" dirty="0"/>
          </a:p>
          <a:p>
            <a:pPr marL="203200" indent="-203200">
              <a:spcAft>
                <a:spcPts val="2200"/>
              </a:spcAft>
              <a:buSzPct val="100000"/>
              <a:buChar char="●"/>
            </a:pPr>
            <a:r>
              <a:rPr lang="en-US" sz="1550" dirty="0">
                <a:solidFill>
                  <a:srgbClr val="16232E"/>
                </a:solidFill>
                <a:latin typeface="Calibri" pitchFamily="34" charset="0"/>
                <a:ea typeface="Calibri" pitchFamily="34" charset="-122"/>
                <a:cs typeface="Calibri" pitchFamily="34" charset="-120"/>
              </a:rPr>
              <a:t>Regiones de 128 × 128 píxeles; cobertura mínima de tejido: 25%.</a:t>
            </a:r>
            <a:endParaRPr lang="en-US" sz="1550" dirty="0"/>
          </a:p>
          <a:p>
            <a:pPr marL="203200" indent="-203200">
              <a:spcAft>
                <a:spcPts val="2200"/>
              </a:spcAft>
              <a:buSzPct val="100000"/>
              <a:buChar char="●"/>
            </a:pPr>
            <a:r>
              <a:rPr lang="en-US" sz="1550" dirty="0">
                <a:solidFill>
                  <a:srgbClr val="16232E"/>
                </a:solidFill>
                <a:latin typeface="Calibri" pitchFamily="34" charset="0"/>
                <a:ea typeface="Calibri" pitchFamily="34" charset="-122"/>
                <a:cs typeface="Calibri" pitchFamily="34" charset="-120"/>
              </a:rPr>
              <a:t>1,038 regiones evaluadas → 806 aceptadas y 232 rechazadas.</a:t>
            </a:r>
            <a:endParaRPr lang="en-US" sz="1550" dirty="0"/>
          </a:p>
        </p:txBody>
      </p:sp>
      <p:pic>
        <p:nvPicPr>
          <p:cNvPr id="6" name="Image 1" descr="/home/claude/work/assets/slide_07_muestra_sin_etiqueta_r.png">    </p:cNvPr>
          <p:cNvPicPr>
            <a:picLocks noChangeAspect="1"/>
          </p:cNvPicPr>
          <p:nvPr/>
        </p:nvPicPr>
        <p:blipFill>
          <a:blip r:embed="rId2"/>
          <a:stretch>
            <a:fillRect/>
          </a:stretch>
        </p:blipFill>
        <p:spPr>
          <a:xfrm>
            <a:off x="7081269" y="1417320"/>
            <a:ext cx="4470346" cy="4160520"/>
          </a:xfrm>
          <a:prstGeom prst="rect">
            <a:avLst/>
          </a:prstGeom>
          <a:effectLst>
            <a:outerShdw sx="100000" sy="100000" kx="0" ky="0" algn="bl" rotWithShape="0" blurRad="88900" dist="25400" dir="5400000">
              <a:srgbClr val="0B3D59">
                <a:alpha val="20000"/>
              </a:srgbClr>
            </a:outerShdw>
          </a:effectLst>
        </p:spPr>
      </p:pic>
      <p:sp>
        <p:nvSpPr>
          <p:cNvPr id="7" name="Text 3"/>
          <p:cNvSpPr txBox="1"/>
          <p:nvPr/>
        </p:nvSpPr>
        <p:spPr>
          <a:xfrm>
            <a:off x="7081269" y="5705856"/>
            <a:ext cx="4470346" cy="310896"/>
          </a:xfrm>
          <a:prstGeom prst="rect">
            <a:avLst/>
          </a:prstGeom>
          <a:noFill/>
          <a:ln/>
        </p:spPr>
        <p:txBody>
          <a:bodyPr wrap="square" lIns="0" tIns="0" rIns="0" bIns="0" rtlCol="0" anchor="ctr"/>
          <a:lstStyle/>
          <a:p>
            <a:pPr algn="ctr" indent="0" marL="0">
              <a:buNone/>
            </a:pPr>
            <a:r>
              <a:rPr lang="en-US" sz="1050" i="1" dirty="0">
                <a:solidFill>
                  <a:srgbClr val="5B6B77"/>
                </a:solidFill>
                <a:latin typeface="Calibri" pitchFamily="34" charset="0"/>
                <a:ea typeface="Calibri" pitchFamily="34" charset="-122"/>
                <a:cs typeface="Calibri" pitchFamily="34" charset="-120"/>
              </a:rPr>
              <a:t>Vista PNG 02ebd5_0, sin etiqueta correspondiente.</a:t>
            </a:r>
            <a:endParaRPr lang="en-US" sz="1050" dirty="0"/>
          </a:p>
        </p:txBody>
      </p:sp>
      <p:sp>
        <p:nvSpPr>
          <p:cNvPr id="8" name="Text 4"/>
          <p:cNvSpPr txBox="1"/>
          <p:nvPr/>
        </p:nvSpPr>
        <p:spPr>
          <a:xfrm>
            <a:off x="7081269" y="5961888"/>
            <a:ext cx="4470346" cy="310896"/>
          </a:xfrm>
          <a:prstGeom prst="rect">
            <a:avLst/>
          </a:prstGeom>
          <a:noFill/>
          <a:ln/>
        </p:spPr>
        <p:txBody>
          <a:bodyPr wrap="square" lIns="0" tIns="0" rIns="0" bIns="0" rtlCol="0" anchor="ctr"/>
          <a:lstStyle/>
          <a:p>
            <a:pPr algn="ctr" indent="0" marL="0">
              <a:buNone/>
            </a:pPr>
            <a:r>
              <a:rPr lang="en-US" sz="1050" i="1" dirty="0">
                <a:solidFill>
                  <a:srgbClr val="5B6B77"/>
                </a:solidFill>
                <a:latin typeface="Calibri" pitchFamily="34" charset="0"/>
                <a:ea typeface="Calibri" pitchFamily="34" charset="-122"/>
                <a:cs typeface="Calibri" pitchFamily="34" charset="-120"/>
              </a:rPr>
              <a:t>Ejemplo del archivo antes de dividirlo en regiones.</a:t>
            </a:r>
            <a:endParaRPr lang="en-US" sz="1050" dirty="0"/>
          </a:p>
        </p:txBody>
      </p:sp>
      <p:sp>
        <p:nvSpPr>
          <p:cNvPr id="9" name="Text 5"/>
          <p:cNvSpPr txBox="1"/>
          <p:nvPr/>
        </p:nvSpPr>
        <p:spPr>
          <a:xfrm>
            <a:off x="10820095" y="6473952"/>
            <a:ext cx="914400" cy="274320"/>
          </a:xfrm>
          <a:prstGeom prst="rect">
            <a:avLst/>
          </a:prstGeom>
          <a:noFill/>
          <a:ln/>
        </p:spPr>
        <p:txBody>
          <a:bodyPr wrap="square" lIns="0" tIns="0" rIns="0" bIns="0" rtlCol="0" anchor="ctr"/>
          <a:lstStyle/>
          <a:p>
            <a:pPr algn="r" indent="0" marL="0">
              <a:buNone/>
            </a:pPr>
            <a:r>
              <a:rPr lang="en-US" sz="900" dirty="0">
                <a:solidFill>
                  <a:srgbClr val="5B6B77"/>
                </a:solidFill>
                <a:latin typeface="Calibri" pitchFamily="34" charset="0"/>
                <a:ea typeface="Calibri" pitchFamily="34" charset="-122"/>
                <a:cs typeface="Calibri" pitchFamily="34" charset="-120"/>
              </a:rPr>
              <a:t>07 / 09</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9FA"/>
        </a:solidFill>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1C7293"/>
          </a:solidFill>
          <a:ln/>
        </p:spPr>
      </p:sp>
      <p:pic>
        <p:nvPicPr>
          <p:cNvPr id="3" name="Image 0" descr="/home/claude/work/assets/icons/search.png">    </p:cNvPr>
          <p:cNvPicPr>
            <a:picLocks noChangeAspect="1"/>
          </p:cNvPicPr>
          <p:nvPr/>
        </p:nvPicPr>
        <p:blipFill>
          <a:blip r:embed="rId1"/>
          <a:stretch>
            <a:fillRect/>
          </a:stretch>
        </p:blipFill>
        <p:spPr>
          <a:xfrm>
            <a:off x="777240" y="640080"/>
            <a:ext cx="292608" cy="292608"/>
          </a:xfrm>
          <a:prstGeom prst="rect">
            <a:avLst/>
          </a:prstGeom>
        </p:spPr>
      </p:pic>
      <p:sp>
        <p:nvSpPr>
          <p:cNvPr id="4" name="Text 1"/>
          <p:cNvSpPr txBox="1"/>
          <p:nvPr/>
        </p:nvSpPr>
        <p:spPr>
          <a:xfrm>
            <a:off x="1417320" y="448056"/>
            <a:ext cx="10134295" cy="676656"/>
          </a:xfrm>
          <a:prstGeom prst="rect">
            <a:avLst/>
          </a:prstGeom>
          <a:noFill/>
          <a:ln/>
        </p:spPr>
        <p:txBody>
          <a:bodyPr wrap="square" lIns="0" tIns="0" rIns="0" bIns="0" rtlCol="0" anchor="ctr"/>
          <a:lstStyle/>
          <a:p>
            <a:pPr indent="0" marL="0">
              <a:buNone/>
            </a:pPr>
            <a:r>
              <a:rPr lang="en-US" sz="2700" b="1" dirty="0">
                <a:solidFill>
                  <a:srgbClr val="0B3D59"/>
                </a:solidFill>
                <a:latin typeface="Cambria" pitchFamily="34" charset="0"/>
                <a:ea typeface="Cambria" pitchFamily="34" charset="-122"/>
                <a:cs typeface="Cambria" pitchFamily="34" charset="-120"/>
              </a:rPr>
              <a:t>Características visuales y relaciones</a:t>
            </a:r>
            <a:endParaRPr lang="en-US" sz="2700" dirty="0"/>
          </a:p>
        </p:txBody>
      </p:sp>
      <p:sp>
        <p:nvSpPr>
          <p:cNvPr id="5" name="Text 2"/>
          <p:cNvSpPr txBox="1"/>
          <p:nvPr/>
        </p:nvSpPr>
        <p:spPr>
          <a:xfrm>
            <a:off x="640080" y="1783080"/>
            <a:ext cx="3566160" cy="1783080"/>
          </a:xfrm>
          <a:prstGeom prst="rect">
            <a:avLst/>
          </a:prstGeom>
          <a:noFill/>
          <a:ln/>
        </p:spPr>
        <p:txBody>
          <a:bodyPr wrap="square" lIns="0" tIns="0" rIns="0" bIns="0" rtlCol="0" anchor="t"/>
          <a:lstStyle/>
          <a:p>
            <a:pPr marL="203200" indent="-203200">
              <a:spcAft>
                <a:spcPts val="1400"/>
              </a:spcAft>
              <a:buSzPct val="100000"/>
              <a:buChar char="●"/>
            </a:pPr>
            <a:r>
              <a:rPr lang="en-US" sz="1350" dirty="0">
                <a:solidFill>
                  <a:srgbClr val="16232E"/>
                </a:solidFill>
                <a:latin typeface="Calibri" pitchFamily="34" charset="0"/>
                <a:ea typeface="Calibri" pitchFamily="34" charset="-122"/>
                <a:cs typeface="Calibri" pitchFamily="34" charset="-120"/>
              </a:rPr>
              <a:t>Se midieron cobertura, color, luminancia, nitidez y entropía.</a:t>
            </a:r>
            <a:endParaRPr lang="en-US" sz="1350" dirty="0"/>
          </a:p>
          <a:p>
            <a:pPr marL="203200" indent="-203200">
              <a:spcAft>
                <a:spcPts val="1400"/>
              </a:spcAft>
              <a:buSzPct val="100000"/>
              <a:buChar char="●"/>
            </a:pPr>
            <a:r>
              <a:rPr lang="en-US" sz="1350" dirty="0">
                <a:solidFill>
                  <a:srgbClr val="16232E"/>
                </a:solidFill>
                <a:latin typeface="Calibri" pitchFamily="34" charset="0"/>
                <a:ea typeface="Calibri" pitchFamily="34" charset="-122"/>
                <a:cs typeface="Calibri" pitchFamily="34" charset="-120"/>
              </a:rPr>
              <a:t>Spearman cobertura–entropía: 0.948 en 02ebd5_0 y −0.589 en 00c058_0.</a:t>
            </a:r>
            <a:endParaRPr lang="en-US" sz="1350" dirty="0"/>
          </a:p>
          <a:p>
            <a:pPr marL="203200" indent="-203200">
              <a:spcAft>
                <a:spcPts val="1400"/>
              </a:spcAft>
              <a:buSzPct val="100000"/>
              <a:buChar char="●"/>
            </a:pPr>
            <a:r>
              <a:rPr lang="en-US" sz="1350" dirty="0">
                <a:solidFill>
                  <a:srgbClr val="16232E"/>
                </a:solidFill>
                <a:latin typeface="Calibri" pitchFamily="34" charset="0"/>
                <a:ea typeface="Calibri" pitchFamily="34" charset="-122"/>
                <a:cs typeface="Calibri" pitchFamily="34" charset="-120"/>
              </a:rPr>
              <a:t>110 tiles aceptados fueron señalados como atípicos y conservados para revisión.</a:t>
            </a:r>
            <a:endParaRPr lang="en-US" sz="1350" dirty="0"/>
          </a:p>
        </p:txBody>
      </p:sp>
      <p:pic>
        <p:nvPicPr>
          <p:cNvPr id="6" name="Image 1" descr="/home/claude/work/assets/slide_08_tejido_entropia_r.png">    </p:cNvPr>
          <p:cNvPicPr>
            <a:picLocks noChangeAspect="1"/>
          </p:cNvPicPr>
          <p:nvPr/>
        </p:nvPicPr>
        <p:blipFill>
          <a:blip r:embed="rId2"/>
          <a:stretch>
            <a:fillRect/>
          </a:stretch>
        </p:blipFill>
        <p:spPr>
          <a:xfrm>
            <a:off x="4693615" y="1508760"/>
            <a:ext cx="6858000" cy="4253696"/>
          </a:xfrm>
          <a:prstGeom prst="rect">
            <a:avLst/>
          </a:prstGeom>
          <a:effectLst>
            <a:outerShdw sx="100000" sy="100000" kx="0" ky="0" algn="bl" rotWithShape="0" blurRad="88900" dist="25400" dir="5400000">
              <a:srgbClr val="0B3D59">
                <a:alpha val="20000"/>
              </a:srgbClr>
            </a:outerShdw>
          </a:effectLst>
        </p:spPr>
      </p:pic>
      <p:sp>
        <p:nvSpPr>
          <p:cNvPr id="7" name="Text 3"/>
          <p:cNvSpPr txBox="1"/>
          <p:nvPr/>
        </p:nvSpPr>
        <p:spPr>
          <a:xfrm>
            <a:off x="4693615" y="5908760"/>
            <a:ext cx="6858000" cy="310896"/>
          </a:xfrm>
          <a:prstGeom prst="rect">
            <a:avLst/>
          </a:prstGeom>
          <a:noFill/>
          <a:ln/>
        </p:spPr>
        <p:txBody>
          <a:bodyPr wrap="square" lIns="0" tIns="0" rIns="0" bIns="0" rtlCol="0" anchor="ctr"/>
          <a:lstStyle/>
          <a:p>
            <a:pPr algn="ctr" indent="0" marL="0">
              <a:buNone/>
            </a:pPr>
            <a:r>
              <a:rPr lang="en-US" sz="1050" i="1" dirty="0">
                <a:solidFill>
                  <a:srgbClr val="5B6B77"/>
                </a:solidFill>
                <a:latin typeface="Calibri" pitchFamily="34" charset="0"/>
                <a:ea typeface="Calibri" pitchFamily="34" charset="-122"/>
                <a:cs typeface="Calibri" pitchFamily="34" charset="-120"/>
              </a:rPr>
              <a:t>Cobertura frente a entropía; colores por imagen.</a:t>
            </a:r>
            <a:endParaRPr lang="en-US" sz="1050" dirty="0"/>
          </a:p>
        </p:txBody>
      </p:sp>
      <p:sp>
        <p:nvSpPr>
          <p:cNvPr id="8" name="Text 4"/>
          <p:cNvSpPr txBox="1"/>
          <p:nvPr/>
        </p:nvSpPr>
        <p:spPr>
          <a:xfrm>
            <a:off x="10820095" y="6473952"/>
            <a:ext cx="914400" cy="274320"/>
          </a:xfrm>
          <a:prstGeom prst="rect">
            <a:avLst/>
          </a:prstGeom>
          <a:noFill/>
          <a:ln/>
        </p:spPr>
        <p:txBody>
          <a:bodyPr wrap="square" lIns="0" tIns="0" rIns="0" bIns="0" rtlCol="0" anchor="ctr"/>
          <a:lstStyle/>
          <a:p>
            <a:pPr algn="r" indent="0" marL="0">
              <a:buNone/>
            </a:pPr>
            <a:r>
              <a:rPr lang="en-US" sz="900" dirty="0">
                <a:solidFill>
                  <a:srgbClr val="5B6B77"/>
                </a:solidFill>
                <a:latin typeface="Calibri" pitchFamily="34" charset="0"/>
                <a:ea typeface="Calibri" pitchFamily="34" charset="-122"/>
                <a:cs typeface="Calibri" pitchFamily="34" charset="-120"/>
              </a:rPr>
              <a:t>08 / 09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3D59"/>
        </a:solidFill>
      </p:bgPr>
    </p:bg>
    <p:spTree>
      <p:nvGrpSpPr>
        <p:cNvPr id="1" name=""/>
        <p:cNvGrpSpPr/>
        <p:nvPr/>
      </p:nvGrpSpPr>
      <p:grpSpPr>
        <a:xfrm>
          <a:off x="0" y="0"/>
          <a:ext cx="0" cy="0"/>
          <a:chOff x="0" y="0"/>
          <a:chExt cx="0" cy="0"/>
        </a:xfrm>
      </p:grpSpPr>
      <p:sp>
        <p:nvSpPr>
          <p:cNvPr id="2" name="Text 0"/>
          <p:cNvSpPr txBox="1"/>
          <p:nvPr/>
        </p:nvSpPr>
        <p:spPr>
          <a:xfrm>
            <a:off x="640080" y="594360"/>
            <a:ext cx="6400800" cy="274320"/>
          </a:xfrm>
          <a:prstGeom prst="rect">
            <a:avLst/>
          </a:prstGeom>
          <a:noFill/>
          <a:ln/>
        </p:spPr>
        <p:txBody>
          <a:bodyPr wrap="square" lIns="0" tIns="0" rIns="0" bIns="0" rtlCol="0" anchor="ctr"/>
          <a:lstStyle/>
          <a:p>
            <a:pPr indent="0" marL="0">
              <a:buNone/>
            </a:pPr>
            <a:r>
              <a:rPr lang="en-US" sz="1150" b="1" spc="150" kern="0" dirty="0">
                <a:solidFill>
                  <a:srgbClr val="DB7F3E"/>
                </a:solidFill>
                <a:latin typeface="Calibri" pitchFamily="34" charset="0"/>
                <a:ea typeface="Calibri" pitchFamily="34" charset="-122"/>
                <a:cs typeface="Calibri" pitchFamily="34" charset="-120"/>
              </a:rPr>
              <a:t>CONCLUSIONES</a:t>
            </a:r>
            <a:endParaRPr lang="en-US" sz="1150" dirty="0"/>
          </a:p>
        </p:txBody>
      </p:sp>
      <p:sp>
        <p:nvSpPr>
          <p:cNvPr id="3" name="Text 1"/>
          <p:cNvSpPr txBox="1"/>
          <p:nvPr/>
        </p:nvSpPr>
        <p:spPr>
          <a:xfrm>
            <a:off x="640080" y="896112"/>
            <a:ext cx="10911535"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Conclusiones y siguientes pasos</a:t>
            </a:r>
            <a:endParaRPr lang="en-US" sz="3000" dirty="0"/>
          </a:p>
        </p:txBody>
      </p:sp>
      <p:sp>
        <p:nvSpPr>
          <p:cNvPr id="4" name="Shape 2"/>
          <p:cNvSpPr/>
          <p:nvPr/>
        </p:nvSpPr>
        <p:spPr>
          <a:xfrm>
            <a:off x="640080" y="1874520"/>
            <a:ext cx="10911535" cy="822960"/>
          </a:xfrm>
          <a:prstGeom prst="roundRect">
            <a:avLst>
              <a:gd name="adj" fmla="val 11111"/>
            </a:avLst>
          </a:prstGeom>
          <a:solidFill>
            <a:srgbClr val="082C40"/>
          </a:solidFill>
          <a:ln/>
        </p:spPr>
      </p:sp>
      <p:sp>
        <p:nvSpPr>
          <p:cNvPr id="5" name="Shape 3"/>
          <p:cNvSpPr/>
          <p:nvPr/>
        </p:nvSpPr>
        <p:spPr>
          <a:xfrm>
            <a:off x="841248" y="2048256"/>
            <a:ext cx="457200" cy="457200"/>
          </a:xfrm>
          <a:prstGeom prst="ellipse">
            <a:avLst/>
          </a:prstGeom>
          <a:solidFill>
            <a:srgbClr val="1C7293"/>
          </a:solidFill>
          <a:ln/>
        </p:spPr>
      </p:sp>
      <p:pic>
        <p:nvPicPr>
          <p:cNvPr id="6" name="Image 0" descr="/home/claude/work/assets/icons/check.png">    </p:cNvPr>
          <p:cNvPicPr>
            <a:picLocks noChangeAspect="1"/>
          </p:cNvPicPr>
          <p:nvPr/>
        </p:nvPicPr>
        <p:blipFill>
          <a:blip r:embed="rId1"/>
          <a:stretch>
            <a:fillRect/>
          </a:stretch>
        </p:blipFill>
        <p:spPr>
          <a:xfrm>
            <a:off x="960120" y="2167128"/>
            <a:ext cx="219456" cy="219456"/>
          </a:xfrm>
          <a:prstGeom prst="rect">
            <a:avLst/>
          </a:prstGeom>
        </p:spPr>
      </p:pic>
      <p:sp>
        <p:nvSpPr>
          <p:cNvPr id="7" name="Text 4"/>
          <p:cNvSpPr txBox="1"/>
          <p:nvPr/>
        </p:nvSpPr>
        <p:spPr>
          <a:xfrm>
            <a:off x="1508760" y="1874520"/>
            <a:ext cx="9814255" cy="8229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 predomina y la composición cambia entre centros.</a:t>
            </a:r>
            <a:endParaRPr lang="en-US" sz="1400" dirty="0"/>
          </a:p>
        </p:txBody>
      </p:sp>
      <p:sp>
        <p:nvSpPr>
          <p:cNvPr id="8" name="Shape 5"/>
          <p:cNvSpPr/>
          <p:nvPr/>
        </p:nvSpPr>
        <p:spPr>
          <a:xfrm>
            <a:off x="640080" y="2898648"/>
            <a:ext cx="10911535" cy="822960"/>
          </a:xfrm>
          <a:prstGeom prst="roundRect">
            <a:avLst>
              <a:gd name="adj" fmla="val 11111"/>
            </a:avLst>
          </a:prstGeom>
          <a:solidFill>
            <a:srgbClr val="082C40"/>
          </a:solidFill>
          <a:ln/>
        </p:spPr>
      </p:sp>
      <p:sp>
        <p:nvSpPr>
          <p:cNvPr id="9" name="Shape 6"/>
          <p:cNvSpPr/>
          <p:nvPr/>
        </p:nvSpPr>
        <p:spPr>
          <a:xfrm>
            <a:off x="841248" y="3072384"/>
            <a:ext cx="457200" cy="457200"/>
          </a:xfrm>
          <a:prstGeom prst="ellipse">
            <a:avLst/>
          </a:prstGeom>
          <a:solidFill>
            <a:srgbClr val="1C7293"/>
          </a:solidFill>
          <a:ln/>
        </p:spPr>
      </p:sp>
      <p:pic>
        <p:nvPicPr>
          <p:cNvPr id="10" name="Image 1" descr="/home/claude/work/assets/icons/check.png">    </p:cNvPr>
          <p:cNvPicPr>
            <a:picLocks noChangeAspect="1"/>
          </p:cNvPicPr>
          <p:nvPr/>
        </p:nvPicPr>
        <p:blipFill>
          <a:blip r:embed="rId2"/>
          <a:stretch>
            <a:fillRect/>
          </a:stretch>
        </p:blipFill>
        <p:spPr>
          <a:xfrm>
            <a:off x="960120" y="3191256"/>
            <a:ext cx="219456" cy="219456"/>
          </a:xfrm>
          <a:prstGeom prst="rect">
            <a:avLst/>
          </a:prstGeom>
        </p:spPr>
      </p:pic>
      <p:sp>
        <p:nvSpPr>
          <p:cNvPr id="11" name="Text 7"/>
          <p:cNvSpPr txBox="1"/>
          <p:nvPr/>
        </p:nvSpPr>
        <p:spPr>
          <a:xfrm>
            <a:off x="1508760" y="2898648"/>
            <a:ext cx="9814255" cy="8229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Las imágenes presentan variabilidad técnica; los datos del mismo paciente deben agruparse.</a:t>
            </a:r>
            <a:endParaRPr lang="en-US" sz="1400" dirty="0"/>
          </a:p>
        </p:txBody>
      </p:sp>
      <p:sp>
        <p:nvSpPr>
          <p:cNvPr id="12" name="Shape 8"/>
          <p:cNvSpPr/>
          <p:nvPr/>
        </p:nvSpPr>
        <p:spPr>
          <a:xfrm>
            <a:off x="640080" y="3922776"/>
            <a:ext cx="10911535" cy="822960"/>
          </a:xfrm>
          <a:prstGeom prst="roundRect">
            <a:avLst>
              <a:gd name="adj" fmla="val 11111"/>
            </a:avLst>
          </a:prstGeom>
          <a:solidFill>
            <a:srgbClr val="082C40"/>
          </a:solidFill>
          <a:ln/>
        </p:spPr>
      </p:sp>
      <p:sp>
        <p:nvSpPr>
          <p:cNvPr id="13" name="Shape 9"/>
          <p:cNvSpPr/>
          <p:nvPr/>
        </p:nvSpPr>
        <p:spPr>
          <a:xfrm>
            <a:off x="841248" y="4096512"/>
            <a:ext cx="457200" cy="457200"/>
          </a:xfrm>
          <a:prstGeom prst="ellipse">
            <a:avLst/>
          </a:prstGeom>
          <a:solidFill>
            <a:srgbClr val="DB7F3E"/>
          </a:solidFill>
          <a:ln/>
        </p:spPr>
      </p:sp>
      <p:pic>
        <p:nvPicPr>
          <p:cNvPr id="14" name="Image 2" descr="/home/claude/work/assets/icons/warning.png">    </p:cNvPr>
          <p:cNvPicPr>
            <a:picLocks noChangeAspect="1"/>
          </p:cNvPicPr>
          <p:nvPr/>
        </p:nvPicPr>
        <p:blipFill>
          <a:blip r:embed="rId3"/>
          <a:stretch>
            <a:fillRect/>
          </a:stretch>
        </p:blipFill>
        <p:spPr>
          <a:xfrm>
            <a:off x="960120" y="4215384"/>
            <a:ext cx="219456" cy="219456"/>
          </a:xfrm>
          <a:prstGeom prst="rect">
            <a:avLst/>
          </a:prstGeom>
        </p:spPr>
      </p:pic>
      <p:sp>
        <p:nvSpPr>
          <p:cNvPr id="15" name="Text 10"/>
          <p:cNvSpPr txBox="1"/>
          <p:nvPr/>
        </p:nvSpPr>
        <p:spPr>
          <a:xfrm>
            <a:off x="1508760" y="3922776"/>
            <a:ext cx="9814255" cy="8229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Límite: solo 3 imágenes etiquetadas, de 3 pacientes del centro 11; no permiten demostrar diferencias generales CE/LAA.</a:t>
            </a:r>
            <a:endParaRPr lang="en-US" sz="1400" dirty="0"/>
          </a:p>
        </p:txBody>
      </p:sp>
      <p:sp>
        <p:nvSpPr>
          <p:cNvPr id="16" name="Shape 11"/>
          <p:cNvSpPr/>
          <p:nvPr/>
        </p:nvSpPr>
        <p:spPr>
          <a:xfrm>
            <a:off x="640080" y="4946904"/>
            <a:ext cx="10911535" cy="822960"/>
          </a:xfrm>
          <a:prstGeom prst="roundRect">
            <a:avLst>
              <a:gd name="adj" fmla="val 11111"/>
            </a:avLst>
          </a:prstGeom>
          <a:solidFill>
            <a:srgbClr val="082C40"/>
          </a:solidFill>
          <a:ln/>
        </p:spPr>
      </p:sp>
      <p:sp>
        <p:nvSpPr>
          <p:cNvPr id="17" name="Shape 12"/>
          <p:cNvSpPr/>
          <p:nvPr/>
        </p:nvSpPr>
        <p:spPr>
          <a:xfrm>
            <a:off x="841248" y="5120640"/>
            <a:ext cx="457200" cy="457200"/>
          </a:xfrm>
          <a:prstGeom prst="ellipse">
            <a:avLst/>
          </a:prstGeom>
          <a:solidFill>
            <a:srgbClr val="DB7F3E"/>
          </a:solidFill>
          <a:ln/>
        </p:spPr>
      </p:sp>
      <p:pic>
        <p:nvPicPr>
          <p:cNvPr id="18" name="Image 3" descr="/home/claude/work/assets/icons/arrow.png">    </p:cNvPr>
          <p:cNvPicPr>
            <a:picLocks noChangeAspect="1"/>
          </p:cNvPicPr>
          <p:nvPr/>
        </p:nvPicPr>
        <p:blipFill>
          <a:blip r:embed="rId4"/>
          <a:stretch>
            <a:fillRect/>
          </a:stretch>
        </p:blipFill>
        <p:spPr>
          <a:xfrm>
            <a:off x="960120" y="5239512"/>
            <a:ext cx="219456" cy="219456"/>
          </a:xfrm>
          <a:prstGeom prst="rect">
            <a:avLst/>
          </a:prstGeom>
        </p:spPr>
      </p:pic>
      <p:sp>
        <p:nvSpPr>
          <p:cNvPr id="19" name="Text 13"/>
          <p:cNvSpPr txBox="1"/>
          <p:nvPr/>
        </p:nvSpPr>
        <p:spPr>
          <a:xfrm>
            <a:off x="1508760" y="4946904"/>
            <a:ext cx="9814255" cy="8229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Siguiente paso: ampliar la muestra, verificar etiquetas y documentar escala y preparación.</a:t>
            </a:r>
            <a:endParaRPr lang="en-US" sz="1400" dirty="0"/>
          </a:p>
        </p:txBody>
      </p:sp>
      <p:sp>
        <p:nvSpPr>
          <p:cNvPr id="20" name="Text 14"/>
          <p:cNvSpPr txBox="1"/>
          <p:nvPr/>
        </p:nvSpPr>
        <p:spPr>
          <a:xfrm>
            <a:off x="640080" y="6455664"/>
            <a:ext cx="9722815" cy="274320"/>
          </a:xfrm>
          <a:prstGeom prst="rect">
            <a:avLst/>
          </a:prstGeom>
          <a:noFill/>
          <a:ln/>
        </p:spPr>
        <p:txBody>
          <a:bodyPr wrap="square" lIns="0" tIns="0" rIns="0" bIns="0" rtlCol="0" anchor="ctr"/>
          <a:lstStyle/>
          <a:p>
            <a:pPr indent="0" marL="0">
              <a:buNone/>
            </a:pPr>
            <a:r>
              <a:rPr lang="en-US" sz="950" dirty="0">
                <a:solidFill>
                  <a:srgbClr val="AFC7D4"/>
                </a:solidFill>
                <a:latin typeface="Calibri" pitchFamily="34" charset="0"/>
                <a:ea typeface="Calibri" pitchFamily="34" charset="-122"/>
                <a:cs typeface="Calibri" pitchFamily="34" charset="-120"/>
              </a:rPr>
              <a:t>Fuentes: NINDS  ·  Mayo Clinic — STRIP AI  ·  P2-DS, Grupo 7 (2025). Referencias completas en el informe.</a:t>
            </a:r>
            <a:endParaRPr lang="en-US" sz="950" dirty="0"/>
          </a:p>
        </p:txBody>
      </p:sp>
      <p:sp>
        <p:nvSpPr>
          <p:cNvPr id="21" name="Text 15"/>
          <p:cNvSpPr txBox="1"/>
          <p:nvPr/>
        </p:nvSpPr>
        <p:spPr>
          <a:xfrm>
            <a:off x="10820095" y="6473952"/>
            <a:ext cx="914400" cy="274320"/>
          </a:xfrm>
          <a:prstGeom prst="rect">
            <a:avLst/>
          </a:prstGeom>
          <a:noFill/>
          <a:ln/>
        </p:spPr>
        <p:txBody>
          <a:bodyPr wrap="square" lIns="0" tIns="0" rIns="0" bIns="0" rtlCol="0" anchor="ctr"/>
          <a:lstStyle/>
          <a:p>
            <a:pPr algn="r" indent="0" marL="0">
              <a:buNone/>
            </a:pPr>
            <a:r>
              <a:rPr lang="en-US" sz="900" dirty="0">
                <a:solidFill>
                  <a:srgbClr val="AFC7D4"/>
                </a:solidFill>
                <a:latin typeface="Calibri" pitchFamily="34" charset="0"/>
                <a:ea typeface="Calibri" pitchFamily="34" charset="-122"/>
                <a:cs typeface="Calibri" pitchFamily="34" charset="-120"/>
              </a:rPr>
              <a:t>09 / 09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2026-09-06T21:54:04Z</dcterms:created>
  <dcterms:modified xsi:type="dcterms:W3CDTF">2026-09-06T21:54:04Z</dcterms:modified>
</cp:coreProperties>
</file>