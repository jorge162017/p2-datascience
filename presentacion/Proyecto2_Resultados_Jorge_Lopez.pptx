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411480"/>
            <a:ext cx="3063240" cy="3063240"/>
          </a:xfrm>
          <a:prstGeom prst="ellipse">
            <a:avLst/>
          </a:prstGeom>
          <a:solidFill>
            <a:srgbClr val="C29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286000"/>
            <a:ext cx="1600200" cy="1600200"/>
          </a:xfrm>
          <a:prstGeom prst="ellipse">
            <a:avLst/>
          </a:prstGeom>
          <a:solidFill>
            <a:srgbClr val="976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F6946"/>
                </a:solidFill>
                <a:latin typeface="Aptos"/>
              </a:rPr>
              <a:t>UNIVERSIDAD DEL VALLE DE GUATEMALA  /  CC3084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822960" cy="45720"/>
          </a:xfrm>
          <a:prstGeom prst="rect">
            <a:avLst/>
          </a:prstGeom>
          <a:solidFill>
            <a:srgbClr val="2F6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9509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1E3429"/>
                </a:solidFill>
                <a:latin typeface="Georgia"/>
              </a:rPr>
              <a:t>Clasificación del origen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1E3429"/>
                </a:solidFill>
                <a:latin typeface="Georgia"/>
              </a:rPr>
              <a:t>de coágulos en ACV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490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2F6946"/>
                </a:solidFill>
                <a:latin typeface="Aptos"/>
              </a:rPr>
              <a:t>Resultados del Proyecto 2 · Tema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166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E3429"/>
                </a:solidFill>
                <a:latin typeface="Aptos"/>
              </a:rPr>
              <a:t>Jorge López  ·  221038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778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C6D61"/>
                </a:solidFill>
                <a:latin typeface="Aptos"/>
              </a:rPr>
              <a:t>12 de octubre de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881360" cy="22860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2F6946"/>
                </a:solidFill>
                <a:latin typeface="Aptos"/>
              </a:rPr>
              <a:t>CC3084  /  PROYECTO 2  /  TEMA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21207"/>
            <a:ext cx="11183112" cy="16459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6946"/>
                </a:solidFill>
                <a:latin typeface="Aptos"/>
              </a:rPr>
              <a:t>DEL PILOTO AL CONJUNTO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429"/>
                </a:solidFill>
                <a:latin typeface="Georgia"/>
              </a:rPr>
              <a:t>De 6 imágenes a 754 verificadas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801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7453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Jorge López · 221038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453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00784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700784"/>
            <a:ext cx="59436" cy="2148840"/>
          </a:xfrm>
          <a:prstGeom prst="rect">
            <a:avLst/>
          </a:prstGeom>
          <a:solidFill>
            <a:srgbClr val="5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01952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5C6D61"/>
                </a:solidFill>
                <a:latin typeface="Aptos"/>
              </a:rPr>
              <a:t>PRIMERA ENTREGA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31136"/>
            <a:ext cx="3200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100" b="0">
                <a:solidFill>
                  <a:srgbClr val="527D91"/>
                </a:solidFill>
                <a:latin typeface="Georgia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43784"/>
            <a:ext cx="320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archivos visuales derivados; solo 3 tenían etiqueta vinculable al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500" b="1">
                <a:solidFill>
                  <a:srgbClr val="2F694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700784"/>
            <a:ext cx="60167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32120" y="1700784"/>
            <a:ext cx="59436" cy="2148840"/>
          </a:xfrm>
          <a:prstGeom prst="rect">
            <a:avLst/>
          </a:prstGeom>
          <a:solidFill>
            <a:srgbClr val="2F6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901952"/>
            <a:ext cx="5559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5C6D61"/>
                </a:solidFill>
                <a:latin typeface="Aptos"/>
              </a:rPr>
              <a:t>SEGUNDA FASE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231136"/>
            <a:ext cx="55595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100" b="0">
                <a:solidFill>
                  <a:srgbClr val="2F6946"/>
                </a:solidFill>
                <a:latin typeface="Georgia"/>
              </a:rPr>
              <a:t>754 / 754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843784"/>
            <a:ext cx="55595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imágenes etiquetadas de entrenamiento en PNG reducido · 632 pacientes · 11 centros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142232"/>
            <a:ext cx="10927080" cy="1417320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389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2F6946"/>
                </a:solidFill>
                <a:latin typeface="Aptos"/>
              </a:rPr>
              <a:t>Qué cambió en el análisis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75488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1E3429"/>
                </a:solidFill>
                <a:latin typeface="Aptos"/>
              </a:rPr>
              <a:t>Rehicimos el EDA visual y la máscara de tejido sobre todas las imágenes disponibles para el entrenamiento. El EDA anterior era un piloto y no podía representar al conjunto completo.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806440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C6D61"/>
                </a:solidFill>
                <a:latin typeface="Aptos"/>
              </a:rPr>
              <a:t>Alcance exacto: copia PNG reducida de las láminas etiquetadas; no son todos los TIFF originales ni el conjunto oculto de prueba.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2F6946"/>
                </a:solidFill>
                <a:latin typeface="Aptos"/>
              </a:rPr>
              <a:t>CC3084  /  PROYECTO 2  /  TEMA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21207"/>
            <a:ext cx="11183112" cy="16459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6946"/>
                </a:solidFill>
                <a:latin typeface="Aptos"/>
              </a:rPr>
              <a:t>PROBLEMA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429"/>
                </a:solidFill>
                <a:latin typeface="Georgia"/>
              </a:rPr>
              <a:t>¿Puede la imagen sugerir el origen?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801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7453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Jorge López · 221038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453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03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682496"/>
            <a:ext cx="10881360" cy="1078992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2F6946"/>
                </a:solidFill>
                <a:latin typeface="Aptos"/>
              </a:rPr>
              <a:t>Pregunta de investigación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57984"/>
            <a:ext cx="9966960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E3429"/>
                </a:solidFill>
                <a:latin typeface="Aptos"/>
              </a:rPr>
              <a:t>¿Generalizan a pacientes nuevos los modelos basados en color y textura de regiones con tejido?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" y="3026664"/>
            <a:ext cx="52852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3026664"/>
            <a:ext cx="52852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0976" y="3355848"/>
            <a:ext cx="658368" cy="658368"/>
          </a:xfrm>
          <a:prstGeom prst="ellipse">
            <a:avLst/>
          </a:prstGeom>
          <a:solidFill>
            <a:srgbClr val="5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19672" y="3355848"/>
            <a:ext cx="658368" cy="658368"/>
          </a:xfrm>
          <a:prstGeom prst="ellipse">
            <a:avLst/>
          </a:prstGeom>
          <a:solidFill>
            <a:srgbClr val="D9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353872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38728"/>
            <a:ext cx="5394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LAA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E3429"/>
                </a:solidFill>
                <a:latin typeface="Georgia"/>
              </a:rPr>
              <a:t>Cardioembólico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C6D61"/>
                </a:solidFill>
                <a:latin typeface="Aptos"/>
              </a:rPr>
              <a:t>Origen asociado con una fuente cardíaca.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7880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E3429"/>
                </a:solidFill>
                <a:latin typeface="Georgia"/>
              </a:rPr>
              <a:t>Arteria grande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C6D61"/>
                </a:solidFill>
                <a:latin typeface="Aptos"/>
              </a:rPr>
              <a:t>Ateroesclerosis de grandes arterias.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5687568"/>
            <a:ext cx="1069848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2F6946"/>
                </a:solidFill>
                <a:latin typeface="Aptos"/>
              </a:rPr>
              <a:t>Meta: comparar tres algoritmos por paciente y comunicar sus límites en una aplicación interactiva.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2F6946"/>
                </a:solidFill>
                <a:latin typeface="Aptos"/>
              </a:rPr>
              <a:t>CC3084  /  PROYECTO 2  /  TEMA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21207"/>
            <a:ext cx="11183112" cy="16459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6946"/>
                </a:solidFill>
                <a:latin typeface="Aptos"/>
              </a:rPr>
              <a:t>EDA VISUAL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429"/>
                </a:solidFill>
                <a:latin typeface="Georgia"/>
              </a:rPr>
              <a:t>El conjunto es desigual y variable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801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7453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Jorge López · 221038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453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00784"/>
            <a:ext cx="3785615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6596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5C6D61"/>
                </a:solidFill>
                <a:latin typeface="Aptos"/>
              </a:rPr>
              <a:t>PACIENTES POR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50592"/>
            <a:ext cx="457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E3429"/>
                </a:solidFill>
                <a:latin typeface="Aptos"/>
              </a:rPr>
              <a:t>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459736"/>
            <a:ext cx="2395728" cy="201168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63040" y="2459736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5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450592"/>
            <a:ext cx="457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E3429"/>
                </a:solidFill>
                <a:latin typeface="Aptos"/>
              </a:rPr>
              <a:t>457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999232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E3429"/>
                </a:solidFill>
                <a:latin typeface="Aptos"/>
              </a:rPr>
              <a:t>LAA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008376"/>
            <a:ext cx="2395728" cy="201168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63040" y="3008376"/>
            <a:ext cx="658368" cy="201168"/>
          </a:xfrm>
          <a:prstGeom prst="roundRect">
            <a:avLst>
              <a:gd name="adj" fmla="val 8000"/>
            </a:avLst>
          </a:prstGeom>
          <a:solidFill>
            <a:srgbClr val="D9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3048" y="2999232"/>
            <a:ext cx="457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E3429"/>
                </a:solidFill>
                <a:latin typeface="Aptos"/>
              </a:rPr>
              <a:t>175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1363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900" b="0">
                <a:solidFill>
                  <a:srgbClr val="2F6946"/>
                </a:solidFill>
                <a:latin typeface="Georgia"/>
              </a:rPr>
              <a:t>12.45 %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553712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C6D61"/>
                </a:solidFill>
                <a:latin typeface="Aptos"/>
              </a:rPr>
              <a:t>mediana de área candidata a tejido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28523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7 imágenes bajo 1 %: revisadas una por una.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54296" y="1700784"/>
            <a:ext cx="6858000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ducidas_cobertura_tej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192274"/>
            <a:ext cx="6537960" cy="26746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92040" y="5257800"/>
            <a:ext cx="6492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C6D61"/>
                </a:solidFill>
                <a:latin typeface="Aptos"/>
              </a:rPr>
              <a:t>La cobertura varía entre centros; no prueba diferencias biológicas CE/LAA.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6025896"/>
            <a:ext cx="10698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5C6D61"/>
                </a:solidFill>
                <a:latin typeface="Aptos"/>
              </a:rPr>
              <a:t>Fuente: EDA de las 754 imágenes reducidas; medidas por imagen, no por paciente.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2F6946"/>
                </a:solidFill>
                <a:latin typeface="Aptos"/>
              </a:rPr>
              <a:t>CC3084  /  PROYECTO 2  /  TEMA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21207"/>
            <a:ext cx="11183112" cy="16459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6946"/>
                </a:solidFill>
                <a:latin typeface="Aptos"/>
              </a:rPr>
              <a:t>PREPROCESAMIENTO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429"/>
                </a:solidFill>
                <a:latin typeface="Georgia"/>
              </a:rPr>
              <a:t>Separar tejido y fondo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801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7453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Jorge López · 221038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453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73352"/>
            <a:ext cx="6656832" cy="3447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ducidas_comparacion_masca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2036815"/>
            <a:ext cx="6345936" cy="2473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" y="4700016"/>
            <a:ext cx="6272784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C6D61"/>
                </a:solidFill>
                <a:latin typeface="Aptos"/>
              </a:rPr>
              <a:t>La regla inicial incluía fondos teñidos; la máscara nueva usa color y textura.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4656" y="1673352"/>
            <a:ext cx="3950208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4656" y="1673352"/>
            <a:ext cx="59436" cy="1591056"/>
          </a:xfrm>
          <a:prstGeom prst="rect">
            <a:avLst/>
          </a:prstGeom>
          <a:solidFill>
            <a:srgbClr val="2F6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63256" y="1874520"/>
            <a:ext cx="34930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5C6D61"/>
                </a:solidFill>
                <a:latin typeface="Aptos"/>
              </a:rPr>
              <a:t>REGIONES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256" y="2203704"/>
            <a:ext cx="349300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100" b="0">
                <a:solidFill>
                  <a:srgbClr val="2F6946"/>
                </a:solidFill>
                <a:latin typeface="Georgia"/>
              </a:rPr>
              <a:t>5,933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3256" y="2816352"/>
            <a:ext cx="34930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recortes de 256 × 256 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3465576"/>
            <a:ext cx="3950208" cy="1655064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3694176"/>
            <a:ext cx="356616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2F6946"/>
                </a:solidFill>
                <a:latin typeface="Georgia"/>
              </a:rPr>
              <a:t>750 de 754 imágenes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4160520"/>
            <a:ext cx="345643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1E3429"/>
                </a:solidFill>
                <a:latin typeface="Aptos"/>
              </a:rPr>
              <a:t>630 de 632 pacientes con regiones; los 2 restantes estaban en entrenamiento.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" y="5376672"/>
            <a:ext cx="10853928" cy="676656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559552"/>
            <a:ext cx="102412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1E3429"/>
                </a:solidFill>
                <a:latin typeface="Aptos"/>
              </a:rPr>
              <a:t>Control de calidad: 61 pares imagen/máscara revisados; las 7 imágenes bajo 1 % se inspeccionaron visualmente.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2F6946"/>
                </a:solidFill>
                <a:latin typeface="Aptos"/>
              </a:rPr>
              <a:t>CC3084  /  PROYECTO 2  /  TEMA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21207"/>
            <a:ext cx="11183112" cy="16459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6946"/>
                </a:solidFill>
                <a:latin typeface="Aptos"/>
              </a:rPr>
              <a:t>DISEÑO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429"/>
                </a:solidFill>
                <a:latin typeface="Georgia"/>
              </a:rPr>
              <a:t>Partición por paciente, sin fuga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801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7453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Jorge López · 221038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453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00784"/>
            <a:ext cx="3154680" cy="2167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00784"/>
            <a:ext cx="59436" cy="2167128"/>
          </a:xfrm>
          <a:prstGeom prst="rect">
            <a:avLst/>
          </a:prstGeom>
          <a:solidFill>
            <a:srgbClr val="5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2697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5C6D61"/>
                </a:solidFill>
                <a:latin typeface="Aptos"/>
              </a:rPr>
              <a:t>ENTRENAMIENTO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31136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100" b="0">
                <a:solidFill>
                  <a:srgbClr val="527D91"/>
                </a:solidFill>
                <a:latin typeface="Georgia"/>
              </a:rPr>
              <a:t>440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43784"/>
            <a:ext cx="269748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438 con regiones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1700784"/>
            <a:ext cx="3154680" cy="2167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992" y="1700784"/>
            <a:ext cx="59436" cy="2167128"/>
          </a:xfrm>
          <a:prstGeom prst="rect">
            <a:avLst/>
          </a:prstGeom>
          <a:solidFill>
            <a:srgbClr val="2F6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901952"/>
            <a:ext cx="2697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5C6D61"/>
                </a:solidFill>
                <a:latin typeface="Aptos"/>
              </a:rPr>
              <a:t>VALIDACIÓN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231136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100" b="0">
                <a:solidFill>
                  <a:srgbClr val="2F6946"/>
                </a:solidFill>
                <a:latin typeface="Georgia"/>
              </a:rPr>
              <a:t>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843784"/>
            <a:ext cx="269748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elige el modelo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75904" y="1700784"/>
            <a:ext cx="3154680" cy="2167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75904" y="1700784"/>
            <a:ext cx="59436" cy="2167128"/>
          </a:xfrm>
          <a:prstGeom prst="rect">
            <a:avLst/>
          </a:prstGeom>
          <a:solidFill>
            <a:srgbClr val="D9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4504" y="1901952"/>
            <a:ext cx="2697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5C6D61"/>
                </a:solidFill>
                <a:latin typeface="Aptos"/>
              </a:rPr>
              <a:t>PRUEBA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2231136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100" b="0">
                <a:solidFill>
                  <a:srgbClr val="D98B4E"/>
                </a:solidFill>
                <a:latin typeface="Georgia"/>
              </a:rPr>
              <a:t>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4504" y="2843784"/>
            <a:ext cx="269748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evaluación final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78808"/>
            <a:ext cx="1088136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443984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E3429"/>
                </a:solidFill>
                <a:latin typeface="Georgia"/>
              </a:rPr>
              <a:t>57 medidas por región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0208" y="440740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2F6946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4" y="4443984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2F6946"/>
                </a:solidFill>
                <a:latin typeface="Georgia"/>
              </a:rPr>
              <a:t>114 variables por paciente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4919472"/>
            <a:ext cx="996696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C6D61"/>
                </a:solidFill>
                <a:latin typeface="Aptos"/>
              </a:rPr>
              <a:t>Color, histogramas, entropía y textura; centro e ID no entran al modelo.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1069848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E3429"/>
                </a:solidFill>
                <a:latin typeface="Aptos"/>
              </a:rPr>
              <a:t>Regresión logística  ·  Bosque aleatorio  ·  SVM RBF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17336"/>
            <a:ext cx="1069848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5C6D61"/>
                </a:solidFill>
                <a:latin typeface="Aptos"/>
              </a:rPr>
              <a:t>Búsqueda de hiperparámetros: 4 pliegues solo en entrenamiento · selección por AUC en validación.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2F6946"/>
                </a:solidFill>
                <a:latin typeface="Aptos"/>
              </a:rPr>
              <a:t>CC3084  /  PROYECTO 2  /  TEMA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21207"/>
            <a:ext cx="11183112" cy="16459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6946"/>
                </a:solidFill>
                <a:latin typeface="Aptos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429"/>
                </a:solidFill>
                <a:latin typeface="Georgia"/>
              </a:rPr>
              <a:t>El ganador no generalizó bien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801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7453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Jorge López · 221038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453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10881360" cy="3118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E3429"/>
                </a:solidFill>
                <a:latin typeface="Aptos"/>
              </a:rPr>
              <a:t>AUC 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1E3429"/>
                </a:solidFill>
                <a:latin typeface="Aptos"/>
              </a:rPr>
              <a:t>Regresión logística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441448"/>
            <a:ext cx="5303520" cy="182880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2441448"/>
            <a:ext cx="2800258" cy="182880"/>
          </a:xfrm>
          <a:prstGeom prst="roundRect">
            <a:avLst>
              <a:gd name="adj" fmla="val 8000"/>
            </a:avLst>
          </a:prstGeom>
          <a:solidFill>
            <a:srgbClr val="5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1976" y="2414016"/>
            <a:ext cx="2029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527D91"/>
                </a:solidFill>
                <a:latin typeface="Aptos"/>
              </a:rPr>
              <a:t>Prueba 0.528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1904" y="2414016"/>
            <a:ext cx="722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C6D61"/>
                </a:solidFill>
                <a:latin typeface="Aptos"/>
              </a:rPr>
              <a:t>Val. 0.608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953512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E3429"/>
                </a:solidFill>
                <a:latin typeface="Aptos"/>
              </a:rPr>
              <a:t>Bosque aleatorio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2971800"/>
            <a:ext cx="5303520" cy="182880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93008" y="2971800"/>
            <a:ext cx="2768437" cy="182880"/>
          </a:xfrm>
          <a:prstGeom prst="roundRect">
            <a:avLst>
              <a:gd name="adj" fmla="val 8000"/>
            </a:avLst>
          </a:prstGeom>
          <a:solidFill>
            <a:srgbClr val="D9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2944368"/>
            <a:ext cx="2029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D98B4E"/>
                </a:solidFill>
                <a:latin typeface="Aptos"/>
              </a:rPr>
              <a:t>Prueba 0.522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1904" y="2944368"/>
            <a:ext cx="722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C6D61"/>
                </a:solidFill>
                <a:latin typeface="Aptos"/>
              </a:rPr>
              <a:t>Val. 0.641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483863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1E3429"/>
                </a:solidFill>
                <a:latin typeface="Aptos"/>
              </a:rPr>
              <a:t>SVM RBF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93008" y="3502151"/>
            <a:ext cx="5303520" cy="182880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93008" y="3502151"/>
            <a:ext cx="2444922" cy="182880"/>
          </a:xfrm>
          <a:prstGeom prst="roundRect">
            <a:avLst>
              <a:gd name="adj" fmla="val 8000"/>
            </a:avLst>
          </a:prstGeom>
          <a:solidFill>
            <a:srgbClr val="8E7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1976" y="3474720"/>
            <a:ext cx="2029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8E74A5"/>
                </a:solidFill>
                <a:latin typeface="Aptos"/>
              </a:rPr>
              <a:t>Prueba 0.461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1904" y="3474720"/>
            <a:ext cx="722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C6D61"/>
                </a:solidFill>
                <a:latin typeface="Aptos"/>
              </a:rPr>
              <a:t>Val. 0.575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014215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1E3429"/>
                </a:solidFill>
                <a:latin typeface="Aptos"/>
              </a:rPr>
              <a:t>Siempre 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93008" y="4032503"/>
            <a:ext cx="5303520" cy="182880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93008" y="4032503"/>
            <a:ext cx="2651760" cy="182880"/>
          </a:xfrm>
          <a:prstGeom prst="roundRect">
            <a:avLst>
              <a:gd name="adj" fmla="val 8000"/>
            </a:avLst>
          </a:prstGeom>
          <a:solidFill>
            <a:srgbClr val="5C6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1976" y="4005072"/>
            <a:ext cx="20299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5C6D61"/>
                </a:solidFill>
                <a:latin typeface="Aptos"/>
              </a:rPr>
              <a:t>Prueba 0.500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61904" y="4005072"/>
            <a:ext cx="722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C6D61"/>
                </a:solidFill>
                <a:latin typeface="Aptos"/>
              </a:rPr>
              <a:t>Val. 0.500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29784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5367528"/>
            <a:ext cx="1028700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2F6946"/>
                </a:solidFill>
                <a:latin typeface="Georgia"/>
              </a:rPr>
              <a:t>Bosque elegido por validación: AUC 0.641; en prueba: 0.522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126480"/>
            <a:ext cx="10698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C6D61"/>
                </a:solidFill>
                <a:latin typeface="Aptos"/>
              </a:rPr>
              <a:t>AUC 0.5 ≈ azar. No se cambia el ganador después de mirar la prueba.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2F6946"/>
                </a:solidFill>
                <a:latin typeface="Aptos"/>
              </a:rPr>
              <a:t>CC3084  /  PROYECTO 2  /  TEMA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21207"/>
            <a:ext cx="11183112" cy="16459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6946"/>
                </a:solidFill>
                <a:latin typeface="Aptos"/>
              </a:rPr>
              <a:t>ERRORES DEL BOSQUE ALEATORIO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429"/>
                </a:solidFill>
                <a:latin typeface="Georgia"/>
              </a:rPr>
              <a:t>Solo identificó 5 de 26 pacientes LAA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801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7453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Jorge López · 221038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453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08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6367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E3429"/>
                </a:solidFill>
                <a:latin typeface="Aptos"/>
              </a:rPr>
              <a:t>Matriz de confusión en 95 pacientes de prueba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1945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5C6D61"/>
                </a:solidFill>
                <a:latin typeface="Aptos"/>
              </a:rPr>
              <a:t>Predicción 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1945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5C6D61"/>
                </a:solidFill>
                <a:latin typeface="Aptos"/>
              </a:rPr>
              <a:t>Predicción LAA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527D91"/>
                </a:solidFill>
                <a:latin typeface="Aptos"/>
              </a:rPr>
              <a:t>Real 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6110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D98B4E"/>
                </a:solidFill>
                <a:latin typeface="Aptos"/>
              </a:rPr>
              <a:t>Real LAA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4" y="2514600"/>
            <a:ext cx="2395728" cy="987552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2633472"/>
            <a:ext cx="9144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2F6946"/>
                </a:solidFill>
                <a:latin typeface="Georgia"/>
              </a:rPr>
              <a:t>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907792"/>
            <a:ext cx="135331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aciertos 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14600"/>
            <a:ext cx="2395728" cy="987552"/>
          </a:xfrm>
          <a:prstGeom prst="roundRect">
            <a:avLst>
              <a:gd name="adj" fmla="val 8000"/>
            </a:avLst>
          </a:prstGeom>
          <a:solidFill>
            <a:srgbClr val="FCE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633472"/>
            <a:ext cx="9144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D98B4E"/>
                </a:solidFill>
                <a:latin typeface="Georgia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1" y="2907792"/>
            <a:ext cx="135331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falsos LAA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3864" y="3749039"/>
            <a:ext cx="2395728" cy="987552"/>
          </a:xfrm>
          <a:prstGeom prst="roundRect">
            <a:avLst>
              <a:gd name="adj" fmla="val 8000"/>
            </a:avLst>
          </a:prstGeom>
          <a:solidFill>
            <a:srgbClr val="FCE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3867911"/>
            <a:ext cx="9144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D98B4E"/>
                </a:solidFill>
                <a:latin typeface="Georgia"/>
              </a:rP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4142231"/>
            <a:ext cx="135331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LAA omitidos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49039"/>
            <a:ext cx="2395728" cy="987552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867911"/>
            <a:ext cx="9144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2F6946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1" y="4142231"/>
            <a:ext cx="135331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aciertos LAA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514600"/>
            <a:ext cx="2139696" cy="2221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54896" y="2862072"/>
            <a:ext cx="16733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D98B4E"/>
                </a:solidFill>
                <a:latin typeface="Georgia"/>
              </a:rPr>
              <a:t>19.2 %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3465576"/>
            <a:ext cx="16367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C6D61"/>
                </a:solidFill>
                <a:latin typeface="Aptos"/>
              </a:rPr>
              <a:t>sensibilidad LAA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239512"/>
            <a:ext cx="105613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E3429"/>
                </a:solidFill>
                <a:latin typeface="Aptos"/>
              </a:rPr>
              <a:t>La exactitud total (62.1 %) fue inferior a la línea base que siempre predice CE (72.6 %).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888736"/>
            <a:ext cx="105613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F6946"/>
                </a:solidFill>
                <a:latin typeface="Aptos"/>
              </a:rPr>
              <a:t>Interpretación: estas características simples de PNG reducidos no sustentan una clasificación clínica.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2F6946"/>
                </a:solidFill>
                <a:latin typeface="Aptos"/>
              </a:rPr>
              <a:t>CC3084  /  PROYECTO 2  /  TEMA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21207"/>
            <a:ext cx="11183112" cy="16459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6946"/>
                </a:solidFill>
                <a:latin typeface="Aptos"/>
              </a:rPr>
              <a:t>APLICACIÓN INTERACTIVA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429"/>
                </a:solidFill>
                <a:latin typeface="Georgia"/>
              </a:rPr>
              <a:t>Explorar, comparar y probar imágenes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801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7453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Jorge López · 221038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453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673352"/>
            <a:ext cx="5358384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1673352"/>
            <a:ext cx="5358384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ptura_app_caracterist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71" y="1837943"/>
            <a:ext cx="4546912" cy="3337560"/>
          </a:xfrm>
          <a:prstGeom prst="rect">
            <a:avLst/>
          </a:prstGeom>
        </p:spPr>
      </p:pic>
      <p:pic>
        <p:nvPicPr>
          <p:cNvPr id="12" name="Picture 11" descr="captura_app_predi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67" y="1837943"/>
            <a:ext cx="4546912" cy="3337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2688" y="5294376"/>
            <a:ext cx="473659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2F6946"/>
                </a:solidFill>
                <a:latin typeface="Aptos"/>
              </a:rPr>
              <a:t>114 características filtrables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294376"/>
            <a:ext cx="473659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2F6946"/>
                </a:solidFill>
                <a:latin typeface="Aptos"/>
              </a:rPr>
              <a:t>Tres respuestas por paciente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870448"/>
            <a:ext cx="10872216" cy="411480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5980176"/>
            <a:ext cx="10378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1E3429"/>
                </a:solidFill>
                <a:latin typeface="Aptos"/>
              </a:rPr>
              <a:t>Preprocesamiento automático · métricas interactivas · opción de ocultar el rendimiento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2F6946"/>
                </a:solidFill>
                <a:latin typeface="Aptos"/>
              </a:rPr>
              <a:t>CC3084  /  PROYECTO 2  /  TEMA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21207"/>
            <a:ext cx="11183112" cy="16459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2F6946"/>
                </a:solidFill>
                <a:latin typeface="Aptos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E3429"/>
                </a:solidFill>
                <a:latin typeface="Georgia"/>
              </a:rPr>
              <a:t>Flujo completo; modelo exploratorio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12801"/>
          </a:xfrm>
          <a:prstGeom prst="rect">
            <a:avLst/>
          </a:prstGeom>
          <a:solidFill>
            <a:srgbClr val="D7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74536"/>
            <a:ext cx="5486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Jorge López · 221038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453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C6D61"/>
                </a:solidFill>
                <a:latin typeface="Aptos"/>
              </a:rP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19072"/>
            <a:ext cx="1083564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20240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2F6946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874519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E3429"/>
                </a:solidFill>
                <a:latin typeface="Aptos"/>
              </a:rPr>
              <a:t>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6" y="1883664"/>
            <a:ext cx="77632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C6D61"/>
                </a:solidFill>
                <a:latin typeface="Aptos"/>
              </a:rPr>
              <a:t>Conseguimos las 754 imágenes etiquetadas en PNG reducido y rehicimos el EDA; el piloto de seis imágenes quedó delimitado.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62072"/>
            <a:ext cx="1083564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63240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2F6946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017520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E3429"/>
                </a:solidFill>
                <a:latin typeface="Aptos"/>
              </a:rPr>
              <a:t>Método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3026664"/>
            <a:ext cx="77632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C6D61"/>
                </a:solidFill>
                <a:latin typeface="Aptos"/>
              </a:rPr>
              <a:t>Particionamos 632 pacientes sin mezclar imágenes, seleccionamos tejido y comparamos tres modelos con prueba reservada.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1083564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06240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2F6946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4160520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E3429"/>
                </a:solidFill>
                <a:latin typeface="Aptos"/>
              </a:rPr>
              <a:t>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4169663"/>
            <a:ext cx="77632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C6D61"/>
                </a:solidFill>
                <a:latin typeface="Aptos"/>
              </a:rPr>
              <a:t>El bosque elegido obtuvo AUC 0.522 y detectó 5/26 LAA en prueba. La app demuestra el flujo, no un uso clínico.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385816"/>
            <a:ext cx="10835640" cy="813816"/>
          </a:xfrm>
          <a:prstGeom prst="roundRect">
            <a:avLst>
              <a:gd name="adj" fmla="val 8000"/>
            </a:avLst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550468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F6946"/>
                </a:solidFill>
                <a:latin typeface="Aptos"/>
              </a:rPr>
              <a:t>Referencias principales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5779008"/>
            <a:ext cx="1022299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1E3429"/>
                </a:solidFill>
                <a:latin typeface="Aptos"/>
              </a:rPr>
              <a:t>Komura &amp; Ishikawa (2018) · Patel et al. (2023) · Lucero-Garófano et al. (2025)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1E3429"/>
                </a:solidFill>
                <a:latin typeface="Aptos"/>
              </a:rPr>
              <a:t>DOI y bibliografía APA completos en el informe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2 · Resultados · Clasificación de coágulos</dc:title>
  <dc:subject>CC3084 Data Science · Tema 22 · Mayo Clinic STRIP AI</dc:subject>
  <dc:creator>Jorge López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